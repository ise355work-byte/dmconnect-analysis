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-73152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73152" y="1371600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91840" y="0"/>
            <a:ext cx="45720" cy="51435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914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01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Connect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0" y="1691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競合分析レポート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0" y="2304288"/>
            <a:ext cx="1645920" cy="5029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871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DM自動発送プラットフォーム市場における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サービス特徴・ターゲット・競合ポジション整理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4389120"/>
            <a:ext cx="52120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526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2026年5月　ビジネスプロデュース本部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競合調査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8412480" cy="4617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926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601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Connect　サービス概要・ターゲット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11612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サービスの4つの特徴と対象顧客像を整理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12748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412748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6761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4584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NEXLINK（ネクスウェイ）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165963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翌営業日発送・Sansan採用の完全従量課金型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911096"/>
            <a:ext cx="8412480" cy="4617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911096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65960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19568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セルマーケ（ディーエムソリューションズ）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21579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業界最安61.8円〜・累計14,400社・リピート率92%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409444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409444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6430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4551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Codenberg（コーデンベルク）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265633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API特化・Adobe Marketo連携のSaaS向け印刷プラットフォーム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907792"/>
            <a:ext cx="8412480" cy="4617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907792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6265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2953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DNP パーソナライズド・プリント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31546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ディノス・セシール採用・Salesforce連携のエンタープライズ向け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406140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406140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46100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34518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TOPPAN MADM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05840" y="365302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Salesforce専用・最短12時間・20万円〜/月の大企業向け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904488"/>
            <a:ext cx="8412480" cy="4617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904488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95935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3950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ラクスル パーソナライズDM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05840" y="41513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2025年7月参入・59円〜・リアルタイム反応計測・最大の新興脅威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402836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02836"/>
            <a:ext cx="530352" cy="4617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457700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5840" y="44485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競合比較サマリー・戦略示唆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05840" y="464972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Connectのポジションと差別化の打ち手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Connect　サービス概要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JPメディアダイレクト株式会社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の印刷〜発送までを自動化するプラットフォーム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各種システムと連携し、宛名データから印刷・宛名印字・郵便局差出までをワンストップで自動化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19933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83080"/>
            <a:ext cx="59436" cy="26060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847088"/>
            <a:ext cx="347472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最短1営業日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164592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032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作成から郵便局差出まで最短1営業日。スピーディな顧客対応と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タイムリーな情報発信を実現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96312" y="1783080"/>
            <a:ext cx="19933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1783080"/>
            <a:ext cx="59436" cy="26060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9464" y="1847088"/>
            <a:ext cx="347472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87752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タイミング最適化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87752" y="2496312"/>
            <a:ext cx="164592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256032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顧客の属性・行動データに基づき送付タイミングを自動制御。DM反応率・CVRを最大化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6864" y="1783080"/>
            <a:ext cx="19933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1783080"/>
            <a:ext cx="59436" cy="26060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1847088"/>
            <a:ext cx="347472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18304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API連携（パターンA）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18304" y="2496312"/>
            <a:ext cx="164592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256032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注文APIで会員DB・購買データと直接連携。印刷〜配送までワンストップで完全自動化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57416" y="1783080"/>
            <a:ext cx="19933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57416" y="1783080"/>
            <a:ext cx="59436" cy="26060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1847088"/>
            <a:ext cx="347472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48856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MA連携（パターンB）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48856" y="2496312"/>
            <a:ext cx="164592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256032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SHANON / DM Publisher経由でノーコードのDM発送シナリオを構築。開発不要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526280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バリアブル印刷（QRコード・会員番号の個別印字）対応　／　オンデマンド印刷により1枚から注文可能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Connect　ターゲット顧客像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 Audience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875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主な対象業種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517904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63624"/>
            <a:ext cx="109728" cy="10972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463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EC・通販事業者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048256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093976"/>
            <a:ext cx="109728" cy="10972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93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配食・サブスクリプションサービス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578608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24328"/>
            <a:ext cx="109728" cy="10972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5237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家電・設備メーカー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0540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保険・金融（契約リマインド等）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639312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85032"/>
            <a:ext cx="109728" cy="10972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84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BtoC企業全般（定期的な会員フォロー）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875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14447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メール施策だけでは反応率が不十分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18196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デジタル×アナログを組み合わせたい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2194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MAを導入済みだがDMとの連携ができていない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8346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834640"/>
            <a:ext cx="4114800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主な利用シーン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319272"/>
            <a:ext cx="54864" cy="237744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解約者へのウィンバックDM（年間20万通）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721608"/>
            <a:ext cx="54864" cy="237744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694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カート落ち・メール未反応者への追い打ち施策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4123944"/>
            <a:ext cx="54864" cy="237744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4096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製品点検・更新時期案内DM（年間15万通）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①　NEXLINK　オンデマンド印刷発送サービス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株式会社ネクスウェイ　｜　翌営業日発送・Sansan採用の完全従量課金型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32688"/>
            <a:ext cx="2606040" cy="1115568"/>
          </a:xfrm>
          <a:prstGeom prst="rect">
            <a:avLst/>
          </a:prstGeom>
          <a:solidFill>
            <a:srgbClr val="0369A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69円〜/通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月額0円・最低3,000円/月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932688"/>
            <a:ext cx="2606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主なターゲット：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51960" y="987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中小〜中堅BtoC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MA/CRM連携：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◯（API/Salesforce）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バリアブル印刷：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93268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最短納期：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9168" y="9875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翌営業日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導入実績：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9168" y="1325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Sansan 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76272"/>
            <a:ext cx="59436" cy="2651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76272"/>
            <a:ext cx="411480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主な特徴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688336"/>
            <a:ext cx="54864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61518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初期費用・月額基本料0円の完全従量課金。低リスクで導入可能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236976"/>
            <a:ext cx="54864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6382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1通から発注可能。最大30,000通まで当日発送に対応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85616"/>
            <a:ext cx="54864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1246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Salesforce・CRM/SFAとAPI連携し顧客データ活用を自動化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176272"/>
            <a:ext cx="411480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導入事例・パートナー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615184"/>
            <a:ext cx="50292" cy="5852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670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Sansan「DM送付オプション」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営業DXサービスSansanのDM機能のバックエンドに採用（APIタイプ）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273552"/>
            <a:ext cx="50292" cy="5852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会員制メガネ専門店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DM作成業務をチーム1週間→担当者1名・1日に大幅効率化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931920"/>
            <a:ext cx="50292" cy="5852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歯科向けセミナー集客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医療機関リストと連携し、予想以上の参加者数を確保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②　セルマーケ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ディーエムソリューションズ株式会社　｜　業界最安水準・累計14,400社の実績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32688"/>
            <a:ext cx="2606040" cy="1115568"/>
          </a:xfrm>
          <a:prstGeom prst="rect">
            <a:avLst/>
          </a:prstGeom>
          <a:solidFill>
            <a:srgbClr val="04785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61.8円〜/通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月額無料・業界最安値水準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932688"/>
            <a:ext cx="2606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主なターゲット：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51960" y="987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幅広い規模（中小〜大企業）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MA/CRM連携：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△（限定的）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バリアブル印刷：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93268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最短納期：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9168" y="9875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翌営業日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導入実績：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9168" y="1325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累計14,400社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76272"/>
            <a:ext cx="59436" cy="26517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76272"/>
            <a:ext cx="411480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主な特徴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688336"/>
            <a:ext cx="54864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61518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業界最安61.8円/通〜。納期に関わらず最安値という独自の価格設定が強み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236976"/>
            <a:ext cx="54864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6382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宛名リスト自動チェック・印刷データ無料チェックで品質保証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85616"/>
            <a:ext cx="54864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1246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印刷から発送まで全てWeb完結。担当者の作業負荷を大幅削減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176272"/>
            <a:ext cx="411480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導入事例・パートナー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615184"/>
            <a:ext cx="50292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670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株式会社Rockets（LEADPAD）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必要な時にWebでサクッと注文できる手軽さを高評価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273552"/>
            <a:ext cx="50292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株式会社ブランジスタエール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発送コストを導入前比約1/3に削減。コスト効率化を実現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931920"/>
            <a:ext cx="50292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年間実績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年間約2億500万通・リピート率92%（2023年4月時点）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③　Codenberg（コーデンベルク）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株式会社Amazing Day　｜　API特化・SaaS事業者向け印刷プラットフォーム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32688"/>
            <a:ext cx="2606040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月額料金＋従量課金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詳細は要問合せ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932688"/>
            <a:ext cx="2606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主なターゲット：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51960" y="987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開発者・SaaS事業者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MA/CRM連携：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◎（Adobe Marketo等）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バリアブル印刷：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93268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最短納期：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9168" y="9875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導入実績：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9168" y="1325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Marketo連携 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76272"/>
            <a:ext cx="59436" cy="2651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76272"/>
            <a:ext cx="411480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主な特徴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688336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61518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印刷物の注文〜発送をAPIで完全自動化するプラットフォーム。開発者向け設計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236976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6382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独自の組版・面付けシステムでパーソナライズ・バリアブル印刷に対応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85616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1246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国内初のHP Indigo InnoPartnerに認定。高品質デジタル印刷を安定供給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176272"/>
            <a:ext cx="411480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導入事例・パートナー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615184"/>
            <a:ext cx="50292" cy="5852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670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Adobe Marketo Engage連携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AdobeのMAプラットフォームとAPI連携を発表。自動DM発送を実現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273552"/>
            <a:ext cx="50292" cy="5852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自動車・保険・不動産業界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車検案内・保険契約確認・物件紹介など業種横断で活用実績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931920"/>
            <a:ext cx="50292" cy="5852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Indigo InnoPartner認定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国内初の認定取得。高品質なデジタル印刷品質を担保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④　DNP パーソナライズド・プリント・プラットフォーム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大日本印刷株式会社　｜　エンタープライズ向け・Salesforce Marketing Cloud連携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32688"/>
            <a:ext cx="2606040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要問合せ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大企業向け・個別見積もり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932688"/>
            <a:ext cx="2606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主なターゲット：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51960" y="987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大企業（エンタープライズ）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MA/CRM連携：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◎（Salesforce MC）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バリアブル印刷：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93268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最短納期：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9168" y="9875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最短24時間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導入実績：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9168" y="1325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ディノス・セシール 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76272"/>
            <a:ext cx="59436" cy="2651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76272"/>
            <a:ext cx="411480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主な特徴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688336"/>
            <a:ext cx="54864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61518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Salesforce Marketing Cloudと直接連携。AppExchangeで「DNPパーソナライズド・オファー」を提供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236976"/>
            <a:ext cx="54864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6382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ECサイト・MAと連携し、個々の顧客に最適化した印刷データを自動生成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85616"/>
            <a:ext cx="54864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1246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大日本印刷グループの信頼性・品質・大ロット対応力が強み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176272"/>
            <a:ext cx="411480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導入事例・パートナー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615184"/>
            <a:ext cx="50292" cy="5852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670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ディノス・セシール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購買履歴・閲覧行動ベースのパーソナライズカタログ"Like it!"に採用。LTV最大化を支援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273552"/>
            <a:ext cx="50292" cy="5852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Salesforce AppExchange掲載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「DNPパーソナライズド・オファー」として公式マーケットプレイスに掲載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931920"/>
            <a:ext cx="50292" cy="5852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通販・小売業界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大規模バリアブル印刷・カタログ自動生成での多数の実績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⑤　TOPPAN MADM（パーソナライズDM）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TOPPAN株式会社　｜　Salesforce専用・最短12時間発送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32688"/>
            <a:ext cx="2606040" cy="1115568"/>
          </a:xfrm>
          <a:prstGeom prst="rect">
            <a:avLst/>
          </a:prstGeom>
          <a:solidFill>
            <a:srgbClr val="B4530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20万円〜/月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＋印刷・発送費（従量）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932688"/>
            <a:ext cx="2606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主なターゲット：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51960" y="987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大企業（通販・金融・通信）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MA/CRM連携：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◎（Salesforce MC専用）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バリアブル印刷：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93268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最短納期：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9168" y="9875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最短12時間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導入実績：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9168" y="1325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通販・金融・通信 多数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76272"/>
            <a:ext cx="59436" cy="2651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76272"/>
            <a:ext cx="411480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主な特徴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688336"/>
            <a:ext cx="54864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61518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Salesforce Marketing Cloudとオンデマンド印刷を自動連携。最短12時間でDM発送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236976"/>
            <a:ext cx="54864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6382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ユニークQRコードを印字しプリントメディアでの顧客反応をリアルタイム把握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85616"/>
            <a:ext cx="54864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1246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2021年よりSalesforce AppExchangeで「MADMアプリ」を提供。月額20万円〜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176272"/>
            <a:ext cx="411480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導入事例・パートナー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615184"/>
            <a:ext cx="50292" cy="5852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670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通販ECのカゴ落ち施策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購入未完了ユーザーへの自動DMで再購入を促進。複数社で実績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273552"/>
            <a:ext cx="50292" cy="5852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金融・キャッシング促進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顧客属性に応じたパーソナライズDMで利用促進。複数金融機関で採用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931920"/>
            <a:ext cx="50292" cy="5852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保険・契約更新リマインド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契約期限前の自動DM発送で更新率改善。通信業でも活用実績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⑥　ラクスル　パーソナライズDM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ラクスル株式会社　｜　2025年7月参入・"脱・ばらまき"で急成長中の最大の新興脅威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32688"/>
            <a:ext cx="2606040" cy="1115568"/>
          </a:xfrm>
          <a:prstGeom prst="rect">
            <a:avLst/>
          </a:prstGeom>
          <a:solidFill>
            <a:srgbClr val="C0152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59円〜/通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月額0円・2028年売上100億円目標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932688"/>
            <a:ext cx="2606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主なターゲット：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51960" y="987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中堅〜大企業BtoB・BtoC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MA/CRM連携：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◎（7サービス予定）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バリアブル印刷：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93268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987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最短納期：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9168" y="9875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導入実績：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9168" y="1325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 Marker・HubSpot 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76272"/>
            <a:ext cx="59436" cy="265176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76272"/>
            <a:ext cx="4114800" cy="329184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主な特徴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688336"/>
            <a:ext cx="54864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61518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2025年7月開始。約30種類フォーマット（ハガキ・圧着・ギフト付き等）に対応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236976"/>
            <a:ext cx="54864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6382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送付先ごとに固有QRコードを自動埋め込み。誰がいつ反応したかをリアルタイム可視化・通知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85616"/>
            <a:ext cx="54864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1246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HubSpot・Salesforce等7サービスと連携予定。反応後のネクストアクションも自動化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7627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176272"/>
            <a:ext cx="411480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導入事例・パートナー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615184"/>
            <a:ext cx="50292" cy="58521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670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 Marker（インテントデータ連携）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880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ターゲット企業の購買意向データと組み合わせたパーソナライズDM施策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273552"/>
            <a:ext cx="50292" cy="58521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トレジャーデータ（CDP連携）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538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CDPの顧客データ基盤と連携し1to1 DM配信を実現するPoC実施中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384048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931920"/>
            <a:ext cx="50292" cy="58521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インフォボックス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営業データプラットフォームとのPoC。DMアプローチのDX化を推進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競合比較サマリー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Competitive Comparison Matrix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1572768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15727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8528" y="960120"/>
            <a:ext cx="1508760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960120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47288" y="960120"/>
            <a:ext cx="804672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960120"/>
            <a:ext cx="8046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MA/CRM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960120"/>
            <a:ext cx="804672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960120"/>
            <a:ext cx="80467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56632" y="960120"/>
            <a:ext cx="658368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960120"/>
            <a:ext cx="6583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15000" y="960120"/>
            <a:ext cx="914400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960120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960120"/>
            <a:ext cx="1828800" cy="38404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960120"/>
            <a:ext cx="1828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主なターゲット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344168"/>
            <a:ext cx="1572768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1344168"/>
            <a:ext cx="14996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NEXLINK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38528" y="1344168"/>
            <a:ext cx="150876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75104" y="1344168"/>
            <a:ext cx="14356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69円〜/通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（従量）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47288" y="1344168"/>
            <a:ext cx="804672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1344168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1344168"/>
            <a:ext cx="804672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88536" y="1344168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56632" y="1344168"/>
            <a:ext cx="658368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1344168"/>
            <a:ext cx="5852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15000" y="1344168"/>
            <a:ext cx="9144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51576" y="1344168"/>
            <a:ext cx="8412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翌営業日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1344168"/>
            <a:ext cx="18288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5976" y="1344168"/>
            <a:ext cx="17556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中小〜中堅BtoC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181965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1819656"/>
            <a:ext cx="14996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セルマーケ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38528" y="181965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75104" y="1819656"/>
            <a:ext cx="14356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61.8円〜/通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（最安値）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47288" y="1819656"/>
            <a:ext cx="804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83864" y="1819656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51960" y="1819656"/>
            <a:ext cx="804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88536" y="1819656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56632" y="1819656"/>
            <a:ext cx="658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93208" y="1819656"/>
            <a:ext cx="5852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53E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715000" y="181965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51576" y="1819656"/>
            <a:ext cx="8412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翌営業日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629400" y="1819656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65976" y="1819656"/>
            <a:ext cx="17556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幅広い規模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2295144"/>
            <a:ext cx="1572768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2295144"/>
            <a:ext cx="14996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Codenberg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938528" y="2295144"/>
            <a:ext cx="150876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75104" y="2295144"/>
            <a:ext cx="14356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月額＋従量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（要問合せ）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47288" y="2295144"/>
            <a:ext cx="804672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83864" y="2295144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251960" y="2295144"/>
            <a:ext cx="804672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88536" y="2295144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056632" y="2295144"/>
            <a:ext cx="658368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93208" y="2295144"/>
            <a:ext cx="5852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715000" y="2295144"/>
            <a:ext cx="9144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51576" y="2295144"/>
            <a:ext cx="8412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629400" y="2295144"/>
            <a:ext cx="18288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65976" y="2295144"/>
            <a:ext cx="17556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開発者・SaaS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2770632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2336" y="2770632"/>
            <a:ext cx="14996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DNP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938528" y="2770632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75104" y="2770632"/>
            <a:ext cx="14356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要問合せ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（大企業向け）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47288" y="2770632"/>
            <a:ext cx="804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83864" y="2770632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251960" y="2770632"/>
            <a:ext cx="804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88536" y="2770632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056632" y="2770632"/>
            <a:ext cx="658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93208" y="2770632"/>
            <a:ext cx="5852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15000" y="277063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51576" y="2770632"/>
            <a:ext cx="8412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最短24時間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629400" y="2770632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65976" y="2770632"/>
            <a:ext cx="17556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大企業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65760" y="3246120"/>
            <a:ext cx="1572768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2336" y="3246120"/>
            <a:ext cx="14996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TOPPAN MADM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938528" y="3246120"/>
            <a:ext cx="150876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75104" y="3246120"/>
            <a:ext cx="14356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20万円〜/月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（＋従量）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447288" y="3246120"/>
            <a:ext cx="804672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83864" y="3246120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251960" y="3246120"/>
            <a:ext cx="804672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88536" y="3246120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5056632" y="3246120"/>
            <a:ext cx="658368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93208" y="3246120"/>
            <a:ext cx="5852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5715000" y="3246120"/>
            <a:ext cx="9144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51576" y="3246120"/>
            <a:ext cx="8412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最短12時間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629400" y="3246120"/>
            <a:ext cx="18288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65976" y="3246120"/>
            <a:ext cx="17556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大企業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65760" y="3721608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2336" y="3721608"/>
            <a:ext cx="14996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ラクスル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938528" y="3721608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75104" y="3721608"/>
            <a:ext cx="14356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59円〜/通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（従量）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3447288" y="3721608"/>
            <a:ext cx="804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83864" y="3721608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4251960" y="3721608"/>
            <a:ext cx="804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88536" y="3721608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5056632" y="3721608"/>
            <a:ext cx="658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93208" y="3721608"/>
            <a:ext cx="5852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5715000" y="3721608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751576" y="3721608"/>
            <a:ext cx="8412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629400" y="3721608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65976" y="3721608"/>
            <a:ext cx="17556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中堅〜大企業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65760" y="4197096"/>
            <a:ext cx="1572768" cy="475488"/>
          </a:xfrm>
          <a:prstGeom prst="rect">
            <a:avLst/>
          </a:prstGeom>
          <a:solidFill>
            <a:srgbClr val="FFF1F2"/>
          </a:solidFill>
          <a:ln w="19050">
            <a:solidFill>
              <a:srgbClr val="C0152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02336" y="4197096"/>
            <a:ext cx="14996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01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Connect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938528" y="4197096"/>
            <a:ext cx="1508760" cy="475488"/>
          </a:xfrm>
          <a:prstGeom prst="rect">
            <a:avLst/>
          </a:prstGeom>
          <a:solidFill>
            <a:srgbClr val="FFF1F2"/>
          </a:solidFill>
          <a:ln w="19050">
            <a:solidFill>
              <a:srgbClr val="C0152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975104" y="4197096"/>
            <a:ext cx="14356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要問合せ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3447288" y="4197096"/>
            <a:ext cx="804672" cy="475488"/>
          </a:xfrm>
          <a:prstGeom prst="rect">
            <a:avLst/>
          </a:prstGeom>
          <a:solidFill>
            <a:srgbClr val="FFF1F2"/>
          </a:solidFill>
          <a:ln w="19050">
            <a:solidFill>
              <a:srgbClr val="C0152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483864" y="4197096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4251960" y="4197096"/>
            <a:ext cx="804672" cy="475488"/>
          </a:xfrm>
          <a:prstGeom prst="rect">
            <a:avLst/>
          </a:prstGeom>
          <a:solidFill>
            <a:srgbClr val="FFF1F2"/>
          </a:solidFill>
          <a:ln w="19050">
            <a:solidFill>
              <a:srgbClr val="C0152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88536" y="4197096"/>
            <a:ext cx="731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5056632" y="4197096"/>
            <a:ext cx="658368" cy="475488"/>
          </a:xfrm>
          <a:prstGeom prst="rect">
            <a:avLst/>
          </a:prstGeom>
          <a:solidFill>
            <a:srgbClr val="FFF1F2"/>
          </a:solidFill>
          <a:ln w="19050">
            <a:solidFill>
              <a:srgbClr val="C0152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93208" y="4197096"/>
            <a:ext cx="58521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5715000" y="4197096"/>
            <a:ext cx="914400" cy="475488"/>
          </a:xfrm>
          <a:prstGeom prst="rect">
            <a:avLst/>
          </a:prstGeom>
          <a:solidFill>
            <a:srgbClr val="FFF1F2"/>
          </a:solidFill>
          <a:ln w="19050">
            <a:solidFill>
              <a:srgbClr val="C0152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751576" y="4197096"/>
            <a:ext cx="8412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最短1営業日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6629400" y="4197096"/>
            <a:ext cx="1828800" cy="475488"/>
          </a:xfrm>
          <a:prstGeom prst="rect">
            <a:avLst/>
          </a:prstGeom>
          <a:solidFill>
            <a:srgbClr val="FFF1F2"/>
          </a:solidFill>
          <a:ln w="19050">
            <a:solidFill>
              <a:srgbClr val="C0152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665976" y="4197096"/>
            <a:ext cx="175564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中堅BtoC企業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8796528" y="4306824"/>
            <a:ext cx="347472" cy="25603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796528" y="43068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◀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365760" y="48006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66928" y="4773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優位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1600200" y="48006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801368" y="4773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 対応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2834640" y="480060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035808" y="4773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限定的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069080" y="480060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270248" y="4773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なし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Connectの差別化ポジションと戦略示唆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Strategic Implication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4241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ポジション：「中堅BtoC × SHANON連携による行動トリガー型シナリオ設計力」で差別化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91640"/>
            <a:ext cx="2697480" cy="34747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099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強み（差別化軸）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148840"/>
            <a:ext cx="54864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10312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SHANONとのMA連携によるノーコードシナリオ構築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770632"/>
            <a:ext cx="54864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72491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最短1営業日の発送スピード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3392424"/>
            <a:ext cx="54864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34670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日本郵便グループの発送インフラ・信頼性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4014216"/>
            <a:ext cx="54864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968496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バリアブル印刷（QR・会員番号の個別印字）対応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6916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691640"/>
            <a:ext cx="26974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7099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注意すべき競合動向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2148840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8144" y="210312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【最大脅威】ラクスルが2025年7月に参入。59円〜・反応計測◎・認知度◎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277063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272491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大企業領域ではDNP・TOPPANが優位な地位を確立済み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3392424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8144" y="334670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価格単体ではセルマーケ（61.8円〜）に劣後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6916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691640"/>
            <a:ext cx="26974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7099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戦略示唆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4768" y="2148840"/>
            <a:ext cx="54864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10312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「API/MA連携の深度」と「シナリオ設計コンサル」で技術・提案両面から差別化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44768" y="2770632"/>
            <a:ext cx="54864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272491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ラクスルへの対抗軸はSHANON連携という具体性と既存顧客との関係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44768" y="3392424"/>
            <a:ext cx="54864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334670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API開発が困難な中堅企業にはパターンB（MA経由）の拡充・積極訴求が鍵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892040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最大の脅威はラクスル（認知度・低価格・リアルタイム反応計測の三拍子）。SHANONとの深い連携とコンサルティング力が最重要な対抗軸。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 Connect 競合分析レポート</dc:title>
  <dc:subject>PptxGenJS Presentation</dc:subject>
  <dc:creator>PptxGenJS</dc:creator>
  <cp:lastModifiedBy>PptxGenJS</cp:lastModifiedBy>
  <cp:revision>1</cp:revision>
  <dcterms:created xsi:type="dcterms:W3CDTF">2026-05-02T10:51:41Z</dcterms:created>
  <dcterms:modified xsi:type="dcterms:W3CDTF">2026-05-02T10:51:41Z</dcterms:modified>
</cp:coreProperties>
</file>