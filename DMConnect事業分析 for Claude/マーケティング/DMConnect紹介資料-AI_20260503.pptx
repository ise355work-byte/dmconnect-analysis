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Georgia Pro Bold" charset="1" panose="02040802050405020203"/>
      <p:regular r:id="rId15"/>
    </p:embeddedFont>
    <p:embeddedFont>
      <p:font typeface="DM Sans" charset="1" panose="00000000000000000000"/>
      <p:regular r:id="rId16"/>
    </p:embeddedFont>
    <p:embeddedFont>
      <p:font typeface="DM Sans Bold" charset="1" panose="000000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8991600" cy="10287000"/>
            <a:chOff x="0" y="0"/>
            <a:chExt cx="1035548" cy="118473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35548" cy="1184737"/>
            </a:xfrm>
            <a:custGeom>
              <a:avLst/>
              <a:gdLst/>
              <a:ahLst/>
              <a:cxnLst/>
              <a:rect r="r" b="b" t="t" l="l"/>
              <a:pathLst>
                <a:path h="1184737" w="1035548">
                  <a:moveTo>
                    <a:pt x="0" y="0"/>
                  </a:moveTo>
                  <a:lnTo>
                    <a:pt x="1035548" y="0"/>
                  </a:lnTo>
                  <a:lnTo>
                    <a:pt x="1035548" y="1184737"/>
                  </a:lnTo>
                  <a:lnTo>
                    <a:pt x="0" y="1184737"/>
                  </a:lnTo>
                  <a:close/>
                </a:path>
              </a:pathLst>
            </a:custGeom>
            <a:blipFill>
              <a:blip r:embed="rId2"/>
              <a:stretch>
                <a:fillRect l="0" t="-597" r="0" b="-597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744200" y="666750"/>
            <a:ext cx="6877050" cy="585084"/>
            <a:chOff x="0" y="0"/>
            <a:chExt cx="9169400" cy="780112"/>
          </a:xfrm>
        </p:grpSpPr>
        <p:sp>
          <p:nvSpPr>
            <p:cNvPr name="Freeform 5" id="5"/>
            <p:cNvSpPr/>
            <p:nvPr/>
          </p:nvSpPr>
          <p:spPr>
            <a:xfrm flipH="true" flipV="false" rot="-5400000">
              <a:off x="36553" y="74861"/>
              <a:ext cx="555143" cy="628248"/>
            </a:xfrm>
            <a:custGeom>
              <a:avLst/>
              <a:gdLst/>
              <a:ahLst/>
              <a:cxnLst/>
              <a:rect r="r" b="b" t="t" l="l"/>
              <a:pathLst>
                <a:path h="628248" w="555143">
                  <a:moveTo>
                    <a:pt x="555143" y="0"/>
                  </a:moveTo>
                  <a:lnTo>
                    <a:pt x="0" y="0"/>
                  </a:lnTo>
                  <a:lnTo>
                    <a:pt x="0" y="628248"/>
                  </a:lnTo>
                  <a:lnTo>
                    <a:pt x="555143" y="628248"/>
                  </a:lnTo>
                  <a:lnTo>
                    <a:pt x="555143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 rot="0">
              <a:off x="795304" y="95250"/>
              <a:ext cx="8374096" cy="6848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555"/>
                </a:lnSpc>
              </a:pPr>
              <a:r>
                <a:rPr lang="en-US" b="true" sz="3864" spc="-77">
                  <a:solidFill>
                    <a:srgbClr val="C8161D"/>
                  </a:solidFill>
                  <a:latin typeface="Georgia Pro Bold"/>
                  <a:ea typeface="Georgia Pro Bold"/>
                  <a:cs typeface="Georgia Pro Bold"/>
                  <a:sym typeface="Georgia Pro Bold"/>
                </a:rPr>
                <a:t>JPメディアダイレクト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734675" y="1562100"/>
            <a:ext cx="6886575" cy="3699578"/>
            <a:chOff x="0" y="0"/>
            <a:chExt cx="9182100" cy="4932770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200025"/>
              <a:ext cx="9182100" cy="36861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0499"/>
                </a:lnSpc>
              </a:pPr>
              <a:r>
                <a:rPr lang="en-US" b="true" sz="10499">
                  <a:solidFill>
                    <a:srgbClr val="C8161D"/>
                  </a:solidFill>
                  <a:latin typeface="Georgia Pro Bold"/>
                  <a:ea typeface="Georgia Pro Bold"/>
                  <a:cs typeface="Georgia Pro Bold"/>
                  <a:sym typeface="Georgia Pro Bold"/>
                </a:rPr>
                <a:t>DMConnect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4137115"/>
              <a:ext cx="9172670" cy="7956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039"/>
                </a:lnSpc>
                <a:spcBef>
                  <a:spcPct val="0"/>
                </a:spcBef>
              </a:pPr>
              <a:r>
                <a:rPr lang="en-US" sz="3599" strike="noStrike" u="none">
                  <a:solidFill>
                    <a:srgbClr val="666666"/>
                  </a:solidFill>
                  <a:latin typeface="DM Sans"/>
                  <a:ea typeface="DM Sans"/>
                  <a:cs typeface="DM Sans"/>
                  <a:sym typeface="DM Sans"/>
                </a:rPr>
                <a:t>LTVを自動で最大化する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744200" y="8740903"/>
            <a:ext cx="5743575" cy="888872"/>
            <a:chOff x="0" y="0"/>
            <a:chExt cx="7658100" cy="1185162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691344"/>
              <a:ext cx="7658100" cy="4938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80"/>
                </a:lnSpc>
                <a:spcBef>
                  <a:spcPct val="0"/>
                </a:spcBef>
              </a:pPr>
              <a:r>
                <a:rPr lang="en-US" sz="2200">
                  <a:solidFill>
                    <a:srgbClr val="666666"/>
                  </a:solidFill>
                  <a:latin typeface="DM Sans"/>
                  <a:ea typeface="DM Sans"/>
                  <a:cs typeface="DM Sans"/>
                  <a:sym typeface="DM Sans"/>
                </a:rPr>
                <a:t>JPメディアダイレクト株式会社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-47625"/>
              <a:ext cx="7658100" cy="5691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b="true" sz="2600">
                  <a:solidFill>
                    <a:srgbClr val="999999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提供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10067925" cy="4620910"/>
            <a:chOff x="0" y="0"/>
            <a:chExt cx="13423900" cy="6161213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4727575"/>
              <a:ext cx="10522714" cy="14336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</a:pPr>
              <a:r>
                <a:rPr lang="en-US" sz="2099">
                  <a:solidFill>
                    <a:srgbClr val="444444"/>
                  </a:solidFill>
                  <a:latin typeface="DM Sans"/>
                  <a:ea typeface="DM Sans"/>
                  <a:cs typeface="DM Sans"/>
                  <a:sym typeface="DM Sans"/>
                </a:rPr>
                <a:t>顧客の休眠や解約が増加し、個別フォローが困難です。メールやLINE施策の反応率が低下している中、効果的なDM施策が求められています。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66675"/>
              <a:ext cx="13423900" cy="30405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800"/>
                </a:lnSpc>
                <a:spcBef>
                  <a:spcPct val="0"/>
                </a:spcBef>
              </a:pPr>
              <a:r>
                <a:rPr lang="en-US" b="true" sz="8000">
                  <a:solidFill>
                    <a:srgbClr val="C8161D"/>
                  </a:solidFill>
                  <a:latin typeface="Georgia Pro Bold"/>
                  <a:ea typeface="Georgia Pro Bold"/>
                  <a:cs typeface="Georgia Pro Bold"/>
                  <a:sym typeface="Georgia Pro Bold"/>
                </a:rPr>
                <a:t>顧客エンゲージメントの課題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22395" y="3533775"/>
              <a:ext cx="13401505" cy="5691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</a:pPr>
              <a:r>
                <a:rPr lang="en-US" sz="2600">
                  <a:solidFill>
                    <a:srgbClr val="666666"/>
                  </a:solidFill>
                  <a:latin typeface="DM Sans"/>
                  <a:ea typeface="DM Sans"/>
                  <a:cs typeface="DM Sans"/>
                  <a:sym typeface="DM Sans"/>
                </a:rPr>
                <a:t>現在の顧客維持に関する課題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6824544" y="8838298"/>
            <a:ext cx="796706" cy="781952"/>
            <a:chOff x="0" y="0"/>
            <a:chExt cx="685800" cy="6731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85800" cy="668020"/>
            </a:xfrm>
            <a:custGeom>
              <a:avLst/>
              <a:gdLst/>
              <a:ahLst/>
              <a:cxnLst/>
              <a:rect r="r" b="b" t="t" l="l"/>
              <a:pathLst>
                <a:path h="668020" w="685800">
                  <a:moveTo>
                    <a:pt x="342900" y="0"/>
                  </a:moveTo>
                  <a:lnTo>
                    <a:pt x="434340" y="162560"/>
                  </a:lnTo>
                  <a:lnTo>
                    <a:pt x="618490" y="132080"/>
                  </a:lnTo>
                  <a:lnTo>
                    <a:pt x="547370" y="304800"/>
                  </a:lnTo>
                  <a:lnTo>
                    <a:pt x="685800" y="430530"/>
                  </a:lnTo>
                  <a:lnTo>
                    <a:pt x="506730" y="482600"/>
                  </a:lnTo>
                  <a:lnTo>
                    <a:pt x="495300" y="668020"/>
                  </a:lnTo>
                  <a:lnTo>
                    <a:pt x="342900" y="561340"/>
                  </a:lnTo>
                  <a:lnTo>
                    <a:pt x="190500" y="668020"/>
                  </a:lnTo>
                  <a:lnTo>
                    <a:pt x="179070" y="482600"/>
                  </a:lnTo>
                  <a:lnTo>
                    <a:pt x="0" y="430530"/>
                  </a:lnTo>
                  <a:lnTo>
                    <a:pt x="138430" y="304800"/>
                  </a:lnTo>
                  <a:lnTo>
                    <a:pt x="67310" y="132080"/>
                  </a:lnTo>
                  <a:lnTo>
                    <a:pt x="251460" y="162560"/>
                  </a:lnTo>
                  <a:close/>
                </a:path>
              </a:pathLst>
            </a:custGeom>
            <a:solidFill>
              <a:srgbClr val="003764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139700" y="117475"/>
              <a:ext cx="406400" cy="4413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7667625"/>
            <a:ext cx="7191375" cy="1952625"/>
            <a:chOff x="0" y="0"/>
            <a:chExt cx="9588500" cy="26035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141095"/>
              <a:ext cx="9588500" cy="14624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444444"/>
                  </a:solidFill>
                  <a:latin typeface="DM Sans"/>
                  <a:ea typeface="DM Sans"/>
                  <a:cs typeface="DM Sans"/>
                  <a:sym typeface="DM Sans"/>
                </a:rPr>
                <a:t>Cookieの利用制限により、既存顧客へのDM施策が見直されています。これにより、顧客との直接的な接触が可能になります。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-47625"/>
              <a:ext cx="9588500" cy="5691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</a:pPr>
              <a:r>
                <a:rPr lang="en-US" b="true" sz="2600">
                  <a:solidFill>
                    <a:srgbClr val="C8161D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個人情報規制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296400" y="7667625"/>
            <a:ext cx="7191375" cy="1952625"/>
            <a:chOff x="0" y="0"/>
            <a:chExt cx="9588500" cy="260350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1141095"/>
              <a:ext cx="9588500" cy="14624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444444"/>
                  </a:solidFill>
                  <a:latin typeface="DM Sans"/>
                  <a:ea typeface="DM Sans"/>
                  <a:cs typeface="DM Sans"/>
                  <a:sym typeface="DM Sans"/>
                </a:rPr>
                <a:t>タイミングとパーソナライズを組み合わせたDM施策は、購買行動に直結します。これがDMの再注目につながっています。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-47625"/>
              <a:ext cx="9588500" cy="5691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</a:pPr>
              <a:r>
                <a:rPr lang="en-US" b="true" sz="2600">
                  <a:solidFill>
                    <a:srgbClr val="C8161D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タイミングとパーソナライズ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66750" y="4619625"/>
            <a:ext cx="7191375" cy="1939925"/>
            <a:chOff x="0" y="0"/>
            <a:chExt cx="9588500" cy="2586567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1124162"/>
              <a:ext cx="9588500" cy="14624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444444"/>
                  </a:solidFill>
                  <a:latin typeface="DM Sans"/>
                  <a:ea typeface="DM Sans"/>
                  <a:cs typeface="DM Sans"/>
                  <a:sym typeface="DM Sans"/>
                </a:rPr>
                <a:t>メールの平均開封率は15〜20%ですが、DMの開封率は70〜80%に達します。この差は、DMの効果的な影響力を示しています。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-47625"/>
              <a:ext cx="9588500" cy="5691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</a:pPr>
              <a:r>
                <a:rPr lang="en-US" b="true" sz="2600">
                  <a:solidFill>
                    <a:srgbClr val="C8161D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開封率の違い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296400" y="4619625"/>
            <a:ext cx="7191375" cy="1956435"/>
            <a:chOff x="0" y="0"/>
            <a:chExt cx="9588500" cy="2608580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1146175"/>
              <a:ext cx="9588500" cy="14624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444444"/>
                  </a:solidFill>
                  <a:latin typeface="DM Sans"/>
                  <a:ea typeface="DM Sans"/>
                  <a:cs typeface="DM Sans"/>
                  <a:sym typeface="DM Sans"/>
                </a:rPr>
                <a:t>一日に接触する広告数は数千件に達し、物理的な郵便物は希少価値が高まっています。これにより、DMの重要性が再評価されています。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-47625"/>
              <a:ext cx="9588500" cy="5691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</a:pPr>
              <a:r>
                <a:rPr lang="en-US" b="true" sz="2600">
                  <a:solidFill>
                    <a:srgbClr val="C8161D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デジタル広告の飽和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666750" y="733425"/>
            <a:ext cx="16954500" cy="114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800"/>
              </a:lnSpc>
              <a:spcBef>
                <a:spcPct val="0"/>
              </a:spcBef>
            </a:pPr>
            <a:r>
              <a:rPr lang="en-US" b="true" sz="8000">
                <a:solidFill>
                  <a:srgbClr val="C8161D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DMの再注目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296400" y="2406015"/>
            <a:ext cx="7191375" cy="1108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</a:pPr>
            <a:r>
              <a:rPr lang="en-US" sz="2100">
                <a:solidFill>
                  <a:srgbClr val="444444"/>
                </a:solidFill>
                <a:latin typeface="DM Sans"/>
                <a:ea typeface="DM Sans"/>
                <a:cs typeface="DM Sans"/>
                <a:sym typeface="DM Sans"/>
              </a:rPr>
              <a:t>DMConnectは顧客の行動を自動検知し、最適なタイミングでDMを送付します。これにより、効果的なアプローチが可能になります。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296400" y="1510665"/>
            <a:ext cx="7191375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0"/>
              </a:lnSpc>
            </a:pPr>
            <a:r>
              <a:rPr lang="en-US" b="true" sz="2600">
                <a:solidFill>
                  <a:srgbClr val="C8161D"/>
                </a:solidFill>
                <a:latin typeface="DM Sans Bold"/>
                <a:ea typeface="DM Sans Bold"/>
                <a:cs typeface="DM Sans Bold"/>
                <a:sym typeface="DM Sans Bold"/>
              </a:rPr>
              <a:t>トリガー配信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296400" y="5095875"/>
            <a:ext cx="7191375" cy="1108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</a:pPr>
            <a:r>
              <a:rPr lang="en-US" sz="2100">
                <a:solidFill>
                  <a:srgbClr val="444444"/>
                </a:solidFill>
                <a:latin typeface="DM Sans"/>
                <a:ea typeface="DM Sans"/>
                <a:cs typeface="DM Sans"/>
                <a:sym typeface="DM Sans"/>
              </a:rPr>
              <a:t>各顧客に合わせた文面とデザインの変更が可能です。これにより、受け取る側の関心を引き、エンゲージメントが向上します。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296400" y="4200525"/>
            <a:ext cx="7191375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0"/>
              </a:lnSpc>
            </a:pPr>
            <a:r>
              <a:rPr lang="en-US" b="true" sz="2600">
                <a:solidFill>
                  <a:srgbClr val="C8161D"/>
                </a:solidFill>
                <a:latin typeface="DM Sans Bold"/>
                <a:ea typeface="DM Sans Bold"/>
                <a:cs typeface="DM Sans Bold"/>
                <a:sym typeface="DM Sans Bold"/>
              </a:rPr>
              <a:t>パーソナライズ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296400" y="7778115"/>
            <a:ext cx="7191375" cy="1108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</a:pPr>
            <a:r>
              <a:rPr lang="en-US" sz="2100">
                <a:solidFill>
                  <a:srgbClr val="444444"/>
                </a:solidFill>
                <a:latin typeface="DM Sans"/>
                <a:ea typeface="DM Sans"/>
                <a:cs typeface="DM Sans"/>
                <a:sym typeface="DM Sans"/>
              </a:rPr>
              <a:t>印刷から配送までのプロセスが自動化されており、最短1営業日で発送が完了します。手間を大幅に削減し、効率的な運用が実現します。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296400" y="6887795"/>
            <a:ext cx="7191375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0"/>
              </a:lnSpc>
            </a:pPr>
            <a:r>
              <a:rPr lang="en-US" b="true" sz="2600">
                <a:solidFill>
                  <a:srgbClr val="C8161D"/>
                </a:solidFill>
                <a:latin typeface="DM Sans Bold"/>
                <a:ea typeface="DM Sans Bold"/>
                <a:cs typeface="DM Sans Bold"/>
                <a:sym typeface="DM Sans Bold"/>
              </a:rPr>
              <a:t>フルオートメーション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66750" y="733425"/>
            <a:ext cx="5753100" cy="2263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800"/>
              </a:lnSpc>
              <a:spcBef>
                <a:spcPct val="0"/>
              </a:spcBef>
            </a:pPr>
            <a:r>
              <a:rPr lang="en-US" b="true" sz="8000">
                <a:solidFill>
                  <a:srgbClr val="C8161D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DMConnectの解決策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8039100"/>
            <a:ext cx="7191375" cy="1581150"/>
            <a:chOff x="0" y="0"/>
            <a:chExt cx="9588500" cy="21082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141095"/>
              <a:ext cx="9588500" cy="9671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444444"/>
                  </a:solidFill>
                  <a:latin typeface="DM Sans"/>
                  <a:ea typeface="DM Sans"/>
                  <a:cs typeface="DM Sans"/>
                  <a:sym typeface="DM Sans"/>
                </a:rPr>
                <a:t>初回導入時はプロが設計したテンプレートを使用します。これにより、スムーズな導入が実現されます。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-47625"/>
              <a:ext cx="9588500" cy="5691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</a:pPr>
              <a:r>
                <a:rPr lang="en-US" b="true" sz="2600">
                  <a:solidFill>
                    <a:srgbClr val="C8161D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プロのテンプレート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296400" y="8039100"/>
            <a:ext cx="7191375" cy="1581150"/>
            <a:chOff x="0" y="0"/>
            <a:chExt cx="9588500" cy="210820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1141095"/>
              <a:ext cx="9588500" cy="9671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444444"/>
                  </a:solidFill>
                  <a:latin typeface="DM Sans"/>
                  <a:ea typeface="DM Sans"/>
                  <a:cs typeface="DM Sans"/>
                  <a:sym typeface="DM Sans"/>
                </a:rPr>
                <a:t>APIを通じて自社システムとの直接連携にも対応しています。カスタマイズされた運用が可能です。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-47625"/>
              <a:ext cx="9588500" cy="5691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</a:pPr>
              <a:r>
                <a:rPr lang="en-US" b="true" sz="2600">
                  <a:solidFill>
                    <a:srgbClr val="C8161D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API連携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66750" y="4619625"/>
            <a:ext cx="7191375" cy="1939925"/>
            <a:chOff x="0" y="0"/>
            <a:chExt cx="9588500" cy="2586567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1124162"/>
              <a:ext cx="9588500" cy="14624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444444"/>
                  </a:solidFill>
                  <a:latin typeface="DM Sans"/>
                  <a:ea typeface="DM Sans"/>
                  <a:cs typeface="DM Sans"/>
                  <a:sym typeface="DM Sans"/>
                </a:rPr>
                <a:t>DMConnectは、SHANONなどのMAツールと簡単に連携できます。これにより、エンジニアなしでもシナリオの設定が可能です。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-47625"/>
              <a:ext cx="9588500" cy="5691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</a:pPr>
              <a:r>
                <a:rPr lang="en-US" b="true" sz="2600">
                  <a:solidFill>
                    <a:srgbClr val="C8161D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MAツール連携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296400" y="4991100"/>
            <a:ext cx="7191375" cy="1584960"/>
            <a:chOff x="0" y="0"/>
            <a:chExt cx="9588500" cy="2113280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1146175"/>
              <a:ext cx="9588500" cy="9671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444444"/>
                  </a:solidFill>
                  <a:latin typeface="DM Sans"/>
                  <a:ea typeface="DM Sans"/>
                  <a:cs typeface="DM Sans"/>
                  <a:sym typeface="DM Sans"/>
                </a:rPr>
                <a:t>顧客データを渡すだけで、自動的にDMが生成され、発送されます。手間を省き、迅速に運用を開始できます。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-47625"/>
              <a:ext cx="9588500" cy="5691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</a:pPr>
              <a:r>
                <a:rPr lang="en-US" b="true" sz="2600">
                  <a:solidFill>
                    <a:srgbClr val="C8161D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簡単な設定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666750" y="733425"/>
            <a:ext cx="16954500" cy="114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800"/>
              </a:lnSpc>
              <a:spcBef>
                <a:spcPct val="0"/>
              </a:spcBef>
            </a:pPr>
            <a:r>
              <a:rPr lang="en-US" b="true" sz="8000">
                <a:solidFill>
                  <a:srgbClr val="C8161D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ノーコードで始める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734675" y="0"/>
            <a:ext cx="7553325" cy="10287000"/>
            <a:chOff x="0" y="0"/>
            <a:chExt cx="2134273" cy="29067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34273" cy="2906702"/>
            </a:xfrm>
            <a:custGeom>
              <a:avLst/>
              <a:gdLst/>
              <a:ahLst/>
              <a:cxnLst/>
              <a:rect r="r" b="b" t="t" l="l"/>
              <a:pathLst>
                <a:path h="2906702" w="2134273">
                  <a:moveTo>
                    <a:pt x="0" y="0"/>
                  </a:moveTo>
                  <a:lnTo>
                    <a:pt x="2134273" y="0"/>
                  </a:lnTo>
                  <a:lnTo>
                    <a:pt x="2134273" y="2906702"/>
                  </a:lnTo>
                  <a:lnTo>
                    <a:pt x="0" y="2906702"/>
                  </a:lnTo>
                  <a:close/>
                </a:path>
              </a:pathLst>
            </a:custGeom>
            <a:blipFill>
              <a:blip r:embed="rId2"/>
              <a:stretch>
                <a:fillRect l="0" t="-205" r="0" b="-205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666750" y="733425"/>
            <a:ext cx="8629650" cy="114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800"/>
              </a:lnSpc>
            </a:pPr>
            <a:r>
              <a:rPr lang="en-US" b="true" sz="8000">
                <a:solidFill>
                  <a:srgbClr val="C8161D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導入事例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2105025" y="4957762"/>
            <a:ext cx="5753100" cy="3223260"/>
            <a:chOff x="0" y="0"/>
            <a:chExt cx="7670800" cy="429768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668655"/>
              <a:ext cx="7670800" cy="525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sz="2400">
                  <a:solidFill>
                    <a:srgbClr val="666666"/>
                  </a:solidFill>
                  <a:latin typeface="DM Sans"/>
                  <a:ea typeface="DM Sans"/>
                  <a:cs typeface="DM Sans"/>
                  <a:sym typeface="DM Sans"/>
                </a:rPr>
                <a:t>マーケティング責任者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2339975"/>
              <a:ext cx="7670800" cy="19577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444444"/>
                  </a:solidFill>
                  <a:latin typeface="DM Sans"/>
                  <a:ea typeface="DM Sans"/>
                  <a:cs typeface="DM Sans"/>
                  <a:sym typeface="DM Sans"/>
                </a:rPr>
                <a:t>"DMConnectを導入してから、解約・休眠顧客へのアプローチが効率化され、ウィンバック施策が年間20万通規模で可能になりました。手間が省け、確実に効果を上げています。"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-47625"/>
              <a:ext cx="7670800" cy="5691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</a:pPr>
              <a:r>
                <a:rPr lang="en-US" b="true" sz="2600">
                  <a:solidFill>
                    <a:srgbClr val="C8161D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ベースフード様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733425"/>
            <a:ext cx="15821025" cy="114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800"/>
              </a:lnSpc>
              <a:spcBef>
                <a:spcPct val="0"/>
              </a:spcBef>
            </a:pPr>
            <a:r>
              <a:rPr lang="en-US" b="true" sz="8000" strike="noStrike" u="none">
                <a:solidFill>
                  <a:srgbClr val="C8161D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導入の流れ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69118" y="3809365"/>
            <a:ext cx="2856970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0"/>
              </a:lnSpc>
              <a:spcBef>
                <a:spcPct val="0"/>
              </a:spcBef>
            </a:pPr>
            <a:r>
              <a:rPr lang="en-US" b="true" sz="2600" strike="noStrike" u="none">
                <a:solidFill>
                  <a:srgbClr val="C8161D"/>
                </a:solidFill>
                <a:latin typeface="DM Sans Bold"/>
                <a:ea typeface="DM Sans Bold"/>
                <a:cs typeface="DM Sans Bold"/>
                <a:sym typeface="DM Sans Bold"/>
              </a:rPr>
              <a:t>ヒアリング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69118" y="5991225"/>
            <a:ext cx="2856970" cy="1108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444444"/>
                </a:solidFill>
                <a:latin typeface="DM Sans"/>
                <a:ea typeface="DM Sans"/>
                <a:cs typeface="DM Sans"/>
                <a:sym typeface="DM Sans"/>
              </a:rPr>
              <a:t>お客様のニーズを理解し、シナリオ設計の基盤を築きます。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181087" y="3809365"/>
            <a:ext cx="2859324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0"/>
              </a:lnSpc>
              <a:spcBef>
                <a:spcPct val="0"/>
              </a:spcBef>
            </a:pPr>
            <a:r>
              <a:rPr lang="en-US" b="true" sz="2600" strike="noStrike" u="none">
                <a:solidFill>
                  <a:srgbClr val="C8161D"/>
                </a:solidFill>
                <a:latin typeface="DM Sans Bold"/>
                <a:ea typeface="DM Sans Bold"/>
                <a:cs typeface="DM Sans Bold"/>
                <a:sym typeface="DM Sans Bold"/>
              </a:rPr>
              <a:t>テンプレート制作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181087" y="5991225"/>
            <a:ext cx="2859324" cy="1480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444444"/>
                </a:solidFill>
                <a:latin typeface="DM Sans"/>
                <a:ea typeface="DM Sans"/>
                <a:cs typeface="DM Sans"/>
                <a:sym typeface="DM Sans"/>
              </a:rPr>
              <a:t>プロフェッショナルがデザインしたテンプレートを作成し、システム連携を設定します。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695409" y="3809365"/>
            <a:ext cx="2859324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0"/>
              </a:lnSpc>
              <a:spcBef>
                <a:spcPct val="0"/>
              </a:spcBef>
            </a:pPr>
            <a:r>
              <a:rPr lang="en-US" b="true" sz="2600" strike="noStrike" u="none">
                <a:solidFill>
                  <a:srgbClr val="C8161D"/>
                </a:solidFill>
                <a:latin typeface="DM Sans Bold"/>
                <a:ea typeface="DM Sans Bold"/>
                <a:cs typeface="DM Sans Bold"/>
                <a:sym typeface="DM Sans Bold"/>
              </a:rPr>
              <a:t>テスト配信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695409" y="5991225"/>
            <a:ext cx="2859324" cy="1108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444444"/>
                </a:solidFill>
                <a:latin typeface="DM Sans"/>
                <a:ea typeface="DM Sans"/>
                <a:cs typeface="DM Sans"/>
                <a:sym typeface="DM Sans"/>
              </a:rPr>
              <a:t>初期テストを行い、効果を検証し、その後の改善点を見つけます。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209732" y="3809365"/>
            <a:ext cx="2878260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0"/>
              </a:lnSpc>
              <a:spcBef>
                <a:spcPct val="0"/>
              </a:spcBef>
            </a:pPr>
            <a:r>
              <a:rPr lang="en-US" b="true" sz="2600" strike="noStrike" u="none">
                <a:solidFill>
                  <a:srgbClr val="C8161D"/>
                </a:solidFill>
                <a:latin typeface="DM Sans Bold"/>
                <a:ea typeface="DM Sans Bold"/>
                <a:cs typeface="DM Sans Bold"/>
                <a:sym typeface="DM Sans Bold"/>
              </a:rPr>
              <a:t>本番運用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209732" y="5991225"/>
            <a:ext cx="2878260" cy="1108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444444"/>
                </a:solidFill>
                <a:latin typeface="DM Sans"/>
                <a:ea typeface="DM Sans"/>
                <a:cs typeface="DM Sans"/>
                <a:sym typeface="DM Sans"/>
              </a:rPr>
              <a:t>すべての準備が整い次第、正式に運用を開始します。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742990" y="3809365"/>
            <a:ext cx="2878260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0"/>
              </a:lnSpc>
              <a:spcBef>
                <a:spcPct val="0"/>
              </a:spcBef>
            </a:pPr>
            <a:r>
              <a:rPr lang="en-US" b="true" sz="2600" strike="noStrike" u="none">
                <a:solidFill>
                  <a:srgbClr val="C8161D"/>
                </a:solidFill>
                <a:latin typeface="DM Sans Bold"/>
                <a:ea typeface="DM Sans Bold"/>
                <a:cs typeface="DM Sans Bold"/>
                <a:sym typeface="DM Sans Bold"/>
              </a:rPr>
              <a:t>効果検証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742990" y="5991225"/>
            <a:ext cx="2878260" cy="1108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444444"/>
                </a:solidFill>
                <a:latin typeface="DM Sans"/>
                <a:ea typeface="DM Sans"/>
                <a:cs typeface="DM Sans"/>
                <a:sym typeface="DM Sans"/>
              </a:rPr>
              <a:t>運用開始後に、実績を分析し、さらなる最適化を図ります。</a:t>
            </a:r>
          </a:p>
        </p:txBody>
      </p:sp>
      <p:sp>
        <p:nvSpPr>
          <p:cNvPr name="AutoShape 13" id="13"/>
          <p:cNvSpPr/>
          <p:nvPr/>
        </p:nvSpPr>
        <p:spPr>
          <a:xfrm>
            <a:off x="992968" y="5153025"/>
            <a:ext cx="17607376" cy="0"/>
          </a:xfrm>
          <a:prstGeom prst="line">
            <a:avLst/>
          </a:prstGeom>
          <a:ln cap="flat" w="19050">
            <a:solidFill>
              <a:srgbClr val="00376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4" id="14"/>
          <p:cNvGrpSpPr/>
          <p:nvPr/>
        </p:nvGrpSpPr>
        <p:grpSpPr>
          <a:xfrm rot="0">
            <a:off x="7695409" y="4762049"/>
            <a:ext cx="796706" cy="781952"/>
            <a:chOff x="0" y="0"/>
            <a:chExt cx="685800" cy="6731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85800" cy="668020"/>
            </a:xfrm>
            <a:custGeom>
              <a:avLst/>
              <a:gdLst/>
              <a:ahLst/>
              <a:cxnLst/>
              <a:rect r="r" b="b" t="t" l="l"/>
              <a:pathLst>
                <a:path h="668020" w="685800">
                  <a:moveTo>
                    <a:pt x="342900" y="0"/>
                  </a:moveTo>
                  <a:lnTo>
                    <a:pt x="434340" y="162560"/>
                  </a:lnTo>
                  <a:lnTo>
                    <a:pt x="618490" y="132080"/>
                  </a:lnTo>
                  <a:lnTo>
                    <a:pt x="547370" y="304800"/>
                  </a:lnTo>
                  <a:lnTo>
                    <a:pt x="685800" y="430530"/>
                  </a:lnTo>
                  <a:lnTo>
                    <a:pt x="506730" y="482600"/>
                  </a:lnTo>
                  <a:lnTo>
                    <a:pt x="495300" y="668020"/>
                  </a:lnTo>
                  <a:lnTo>
                    <a:pt x="342900" y="561340"/>
                  </a:lnTo>
                  <a:lnTo>
                    <a:pt x="190500" y="668020"/>
                  </a:lnTo>
                  <a:lnTo>
                    <a:pt x="179070" y="482600"/>
                  </a:lnTo>
                  <a:lnTo>
                    <a:pt x="0" y="430530"/>
                  </a:lnTo>
                  <a:lnTo>
                    <a:pt x="138430" y="304800"/>
                  </a:lnTo>
                  <a:lnTo>
                    <a:pt x="67310" y="132080"/>
                  </a:lnTo>
                  <a:lnTo>
                    <a:pt x="251460" y="162560"/>
                  </a:lnTo>
                  <a:close/>
                </a:path>
              </a:pathLst>
            </a:custGeom>
            <a:solidFill>
              <a:srgbClr val="003764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139700" y="117475"/>
              <a:ext cx="406400" cy="4413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1206740" y="4768059"/>
            <a:ext cx="796706" cy="781952"/>
            <a:chOff x="0" y="0"/>
            <a:chExt cx="685800" cy="6731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85800" cy="668020"/>
            </a:xfrm>
            <a:custGeom>
              <a:avLst/>
              <a:gdLst/>
              <a:ahLst/>
              <a:cxnLst/>
              <a:rect r="r" b="b" t="t" l="l"/>
              <a:pathLst>
                <a:path h="668020" w="685800">
                  <a:moveTo>
                    <a:pt x="342900" y="0"/>
                  </a:moveTo>
                  <a:lnTo>
                    <a:pt x="434340" y="162560"/>
                  </a:lnTo>
                  <a:lnTo>
                    <a:pt x="618490" y="132080"/>
                  </a:lnTo>
                  <a:lnTo>
                    <a:pt x="547370" y="304800"/>
                  </a:lnTo>
                  <a:lnTo>
                    <a:pt x="685800" y="430530"/>
                  </a:lnTo>
                  <a:lnTo>
                    <a:pt x="506730" y="482600"/>
                  </a:lnTo>
                  <a:lnTo>
                    <a:pt x="495300" y="668020"/>
                  </a:lnTo>
                  <a:lnTo>
                    <a:pt x="342900" y="561340"/>
                  </a:lnTo>
                  <a:lnTo>
                    <a:pt x="190500" y="668020"/>
                  </a:lnTo>
                  <a:lnTo>
                    <a:pt x="179070" y="482600"/>
                  </a:lnTo>
                  <a:lnTo>
                    <a:pt x="0" y="430530"/>
                  </a:lnTo>
                  <a:lnTo>
                    <a:pt x="138430" y="304800"/>
                  </a:lnTo>
                  <a:lnTo>
                    <a:pt x="67310" y="132080"/>
                  </a:lnTo>
                  <a:lnTo>
                    <a:pt x="251460" y="162560"/>
                  </a:lnTo>
                  <a:close/>
                </a:path>
              </a:pathLst>
            </a:custGeom>
            <a:solidFill>
              <a:srgbClr val="003764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139700" y="117475"/>
              <a:ext cx="406400" cy="4413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4742990" y="4786087"/>
            <a:ext cx="796706" cy="781952"/>
            <a:chOff x="0" y="0"/>
            <a:chExt cx="685800" cy="6731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85800" cy="668020"/>
            </a:xfrm>
            <a:custGeom>
              <a:avLst/>
              <a:gdLst/>
              <a:ahLst/>
              <a:cxnLst/>
              <a:rect r="r" b="b" t="t" l="l"/>
              <a:pathLst>
                <a:path h="668020" w="685800">
                  <a:moveTo>
                    <a:pt x="342900" y="0"/>
                  </a:moveTo>
                  <a:lnTo>
                    <a:pt x="434340" y="162560"/>
                  </a:lnTo>
                  <a:lnTo>
                    <a:pt x="618490" y="132080"/>
                  </a:lnTo>
                  <a:lnTo>
                    <a:pt x="547370" y="304800"/>
                  </a:lnTo>
                  <a:lnTo>
                    <a:pt x="685800" y="430530"/>
                  </a:lnTo>
                  <a:lnTo>
                    <a:pt x="506730" y="482600"/>
                  </a:lnTo>
                  <a:lnTo>
                    <a:pt x="495300" y="668020"/>
                  </a:lnTo>
                  <a:lnTo>
                    <a:pt x="342900" y="561340"/>
                  </a:lnTo>
                  <a:lnTo>
                    <a:pt x="190500" y="668020"/>
                  </a:lnTo>
                  <a:lnTo>
                    <a:pt x="179070" y="482600"/>
                  </a:lnTo>
                  <a:lnTo>
                    <a:pt x="0" y="430530"/>
                  </a:lnTo>
                  <a:lnTo>
                    <a:pt x="138430" y="304800"/>
                  </a:lnTo>
                  <a:lnTo>
                    <a:pt x="67310" y="132080"/>
                  </a:lnTo>
                  <a:lnTo>
                    <a:pt x="251460" y="162560"/>
                  </a:lnTo>
                  <a:close/>
                </a:path>
              </a:pathLst>
            </a:custGeom>
            <a:solidFill>
              <a:srgbClr val="003764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139700" y="117475"/>
              <a:ext cx="406400" cy="4413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4181087" y="4774068"/>
            <a:ext cx="796706" cy="781952"/>
            <a:chOff x="0" y="0"/>
            <a:chExt cx="685800" cy="6731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85800" cy="668020"/>
            </a:xfrm>
            <a:custGeom>
              <a:avLst/>
              <a:gdLst/>
              <a:ahLst/>
              <a:cxnLst/>
              <a:rect r="r" b="b" t="t" l="l"/>
              <a:pathLst>
                <a:path h="668020" w="685800">
                  <a:moveTo>
                    <a:pt x="342900" y="0"/>
                  </a:moveTo>
                  <a:lnTo>
                    <a:pt x="434340" y="162560"/>
                  </a:lnTo>
                  <a:lnTo>
                    <a:pt x="618490" y="132080"/>
                  </a:lnTo>
                  <a:lnTo>
                    <a:pt x="547370" y="304800"/>
                  </a:lnTo>
                  <a:lnTo>
                    <a:pt x="685800" y="430530"/>
                  </a:lnTo>
                  <a:lnTo>
                    <a:pt x="506730" y="482600"/>
                  </a:lnTo>
                  <a:lnTo>
                    <a:pt x="495300" y="668020"/>
                  </a:lnTo>
                  <a:lnTo>
                    <a:pt x="342900" y="561340"/>
                  </a:lnTo>
                  <a:lnTo>
                    <a:pt x="190500" y="668020"/>
                  </a:lnTo>
                  <a:lnTo>
                    <a:pt x="179070" y="482600"/>
                  </a:lnTo>
                  <a:lnTo>
                    <a:pt x="0" y="430530"/>
                  </a:lnTo>
                  <a:lnTo>
                    <a:pt x="138430" y="304800"/>
                  </a:lnTo>
                  <a:lnTo>
                    <a:pt x="67310" y="132080"/>
                  </a:lnTo>
                  <a:lnTo>
                    <a:pt x="251460" y="162560"/>
                  </a:lnTo>
                  <a:close/>
                </a:path>
              </a:pathLst>
            </a:custGeom>
            <a:solidFill>
              <a:srgbClr val="003764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139700" y="117475"/>
              <a:ext cx="406400" cy="4413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666750" y="4780078"/>
            <a:ext cx="796706" cy="781952"/>
            <a:chOff x="0" y="0"/>
            <a:chExt cx="685800" cy="6731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85800" cy="668020"/>
            </a:xfrm>
            <a:custGeom>
              <a:avLst/>
              <a:gdLst/>
              <a:ahLst/>
              <a:cxnLst/>
              <a:rect r="r" b="b" t="t" l="l"/>
              <a:pathLst>
                <a:path h="668020" w="685800">
                  <a:moveTo>
                    <a:pt x="342900" y="0"/>
                  </a:moveTo>
                  <a:lnTo>
                    <a:pt x="434340" y="162560"/>
                  </a:lnTo>
                  <a:lnTo>
                    <a:pt x="618490" y="132080"/>
                  </a:lnTo>
                  <a:lnTo>
                    <a:pt x="547370" y="304800"/>
                  </a:lnTo>
                  <a:lnTo>
                    <a:pt x="685800" y="430530"/>
                  </a:lnTo>
                  <a:lnTo>
                    <a:pt x="506730" y="482600"/>
                  </a:lnTo>
                  <a:lnTo>
                    <a:pt x="495300" y="668020"/>
                  </a:lnTo>
                  <a:lnTo>
                    <a:pt x="342900" y="561340"/>
                  </a:lnTo>
                  <a:lnTo>
                    <a:pt x="190500" y="668020"/>
                  </a:lnTo>
                  <a:lnTo>
                    <a:pt x="179070" y="482600"/>
                  </a:lnTo>
                  <a:lnTo>
                    <a:pt x="0" y="430530"/>
                  </a:lnTo>
                  <a:lnTo>
                    <a:pt x="138430" y="304800"/>
                  </a:lnTo>
                  <a:lnTo>
                    <a:pt x="67310" y="132080"/>
                  </a:lnTo>
                  <a:lnTo>
                    <a:pt x="251460" y="162560"/>
                  </a:lnTo>
                  <a:close/>
                </a:path>
              </a:pathLst>
            </a:custGeom>
            <a:solidFill>
              <a:srgbClr val="003764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139700" y="117475"/>
              <a:ext cx="406400" cy="4413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733425"/>
            <a:ext cx="5753100" cy="2263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800"/>
              </a:lnSpc>
              <a:spcBef>
                <a:spcPct val="0"/>
              </a:spcBef>
            </a:pPr>
            <a:r>
              <a:rPr lang="en-US" b="true" sz="8000">
                <a:solidFill>
                  <a:srgbClr val="C8161D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よくある質問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296400" y="2409825"/>
            <a:ext cx="7191375" cy="1108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</a:pPr>
            <a:r>
              <a:rPr lang="en-US" sz="2100">
                <a:solidFill>
                  <a:srgbClr val="444444"/>
                </a:solidFill>
                <a:latin typeface="DM Sans"/>
                <a:ea typeface="DM Sans"/>
                <a:cs typeface="DM Sans"/>
                <a:sym typeface="DM Sans"/>
              </a:rPr>
              <a:t>当社は、</a:t>
            </a:r>
            <a:r>
              <a:rPr lang="en-US" b="true" sz="2100">
                <a:solidFill>
                  <a:srgbClr val="444444"/>
                </a:solidFill>
                <a:latin typeface="DM Sans Bold"/>
                <a:ea typeface="DM Sans Bold"/>
                <a:cs typeface="DM Sans Bold"/>
                <a:sym typeface="DM Sans Bold"/>
              </a:rPr>
              <a:t>自社サーバー</a:t>
            </a:r>
            <a:r>
              <a:rPr lang="en-US" sz="2100">
                <a:solidFill>
                  <a:srgbClr val="444444"/>
                </a:solidFill>
                <a:latin typeface="DM Sans"/>
                <a:ea typeface="DM Sans"/>
                <a:cs typeface="DM Sans"/>
                <a:sym typeface="DM Sans"/>
              </a:rPr>
              <a:t>で個人情報を安全に管理し、顧客データの保護に万全を期しています。安心してご利用いただけます。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296400" y="1514475"/>
            <a:ext cx="7191375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0"/>
              </a:lnSpc>
            </a:pPr>
            <a:r>
              <a:rPr lang="en-US" b="true" sz="2600">
                <a:solidFill>
                  <a:srgbClr val="C8161D"/>
                </a:solidFill>
                <a:latin typeface="DM Sans Bold"/>
                <a:ea typeface="DM Sans Bold"/>
                <a:cs typeface="DM Sans Bold"/>
                <a:sym typeface="DM Sans Bold"/>
              </a:rPr>
              <a:t>個人情報の取り扱い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296400" y="5095875"/>
            <a:ext cx="7191375" cy="1108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</a:pPr>
            <a:r>
              <a:rPr lang="en-US" sz="2100">
                <a:solidFill>
                  <a:srgbClr val="444444"/>
                </a:solidFill>
                <a:latin typeface="DM Sans"/>
                <a:ea typeface="DM Sans"/>
                <a:cs typeface="DM Sans"/>
                <a:sym typeface="DM Sans"/>
              </a:rPr>
              <a:t>DMConnectは、小ロットから対応可能です。お客様のニーズに合わせて、フレキシブルにサービスを提供いたします。お気軽にご相談ください。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296400" y="4200525"/>
            <a:ext cx="7191375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0"/>
              </a:lnSpc>
            </a:pPr>
            <a:r>
              <a:rPr lang="en-US" b="true" sz="2600">
                <a:solidFill>
                  <a:srgbClr val="C8161D"/>
                </a:solidFill>
                <a:latin typeface="DM Sans Bold"/>
                <a:ea typeface="DM Sans Bold"/>
                <a:cs typeface="DM Sans Bold"/>
                <a:sym typeface="DM Sans Bold"/>
              </a:rPr>
              <a:t>ロットサイズについて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734675" y="0"/>
            <a:ext cx="7553325" cy="10287000"/>
            <a:chOff x="0" y="0"/>
            <a:chExt cx="1170208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70208" cy="1593725"/>
            </a:xfrm>
            <a:custGeom>
              <a:avLst/>
              <a:gdLst/>
              <a:ahLst/>
              <a:cxnLst/>
              <a:rect r="r" b="b" t="t" l="l"/>
              <a:pathLst>
                <a:path h="1593725" w="1170208">
                  <a:moveTo>
                    <a:pt x="0" y="0"/>
                  </a:moveTo>
                  <a:lnTo>
                    <a:pt x="1170208" y="0"/>
                  </a:lnTo>
                  <a:lnTo>
                    <a:pt x="1170208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0" t="-205" r="0" b="-20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105025" y="6038850"/>
            <a:ext cx="796706" cy="781952"/>
            <a:chOff x="0" y="0"/>
            <a:chExt cx="685800" cy="6731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85800" cy="668020"/>
            </a:xfrm>
            <a:custGeom>
              <a:avLst/>
              <a:gdLst/>
              <a:ahLst/>
              <a:cxnLst/>
              <a:rect r="r" b="b" t="t" l="l"/>
              <a:pathLst>
                <a:path h="668020" w="685800">
                  <a:moveTo>
                    <a:pt x="342900" y="0"/>
                  </a:moveTo>
                  <a:lnTo>
                    <a:pt x="434340" y="162560"/>
                  </a:lnTo>
                  <a:lnTo>
                    <a:pt x="618490" y="132080"/>
                  </a:lnTo>
                  <a:lnTo>
                    <a:pt x="547370" y="304800"/>
                  </a:lnTo>
                  <a:lnTo>
                    <a:pt x="685800" y="430530"/>
                  </a:lnTo>
                  <a:lnTo>
                    <a:pt x="506730" y="482600"/>
                  </a:lnTo>
                  <a:lnTo>
                    <a:pt x="495300" y="668020"/>
                  </a:lnTo>
                  <a:lnTo>
                    <a:pt x="342900" y="561340"/>
                  </a:lnTo>
                  <a:lnTo>
                    <a:pt x="190500" y="668020"/>
                  </a:lnTo>
                  <a:lnTo>
                    <a:pt x="179070" y="482600"/>
                  </a:lnTo>
                  <a:lnTo>
                    <a:pt x="0" y="430530"/>
                  </a:lnTo>
                  <a:lnTo>
                    <a:pt x="138430" y="304800"/>
                  </a:lnTo>
                  <a:lnTo>
                    <a:pt x="67310" y="132080"/>
                  </a:lnTo>
                  <a:lnTo>
                    <a:pt x="251460" y="162560"/>
                  </a:lnTo>
                  <a:close/>
                </a:path>
              </a:pathLst>
            </a:custGeom>
            <a:solidFill>
              <a:srgbClr val="003764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139700" y="117475"/>
              <a:ext cx="406400" cy="4413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2105025" y="7829550"/>
            <a:ext cx="796706" cy="781952"/>
            <a:chOff x="0" y="0"/>
            <a:chExt cx="685800" cy="6731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85800" cy="668020"/>
            </a:xfrm>
            <a:custGeom>
              <a:avLst/>
              <a:gdLst/>
              <a:ahLst/>
              <a:cxnLst/>
              <a:rect r="r" b="b" t="t" l="l"/>
              <a:pathLst>
                <a:path h="668020" w="685800">
                  <a:moveTo>
                    <a:pt x="342900" y="0"/>
                  </a:moveTo>
                  <a:lnTo>
                    <a:pt x="434340" y="162560"/>
                  </a:lnTo>
                  <a:lnTo>
                    <a:pt x="618490" y="132080"/>
                  </a:lnTo>
                  <a:lnTo>
                    <a:pt x="547370" y="304800"/>
                  </a:lnTo>
                  <a:lnTo>
                    <a:pt x="685800" y="430530"/>
                  </a:lnTo>
                  <a:lnTo>
                    <a:pt x="506730" y="482600"/>
                  </a:lnTo>
                  <a:lnTo>
                    <a:pt x="495300" y="668020"/>
                  </a:lnTo>
                  <a:lnTo>
                    <a:pt x="342900" y="561340"/>
                  </a:lnTo>
                  <a:lnTo>
                    <a:pt x="190500" y="668020"/>
                  </a:lnTo>
                  <a:lnTo>
                    <a:pt x="179070" y="482600"/>
                  </a:lnTo>
                  <a:lnTo>
                    <a:pt x="0" y="430530"/>
                  </a:lnTo>
                  <a:lnTo>
                    <a:pt x="138430" y="304800"/>
                  </a:lnTo>
                  <a:lnTo>
                    <a:pt x="67310" y="132080"/>
                  </a:lnTo>
                  <a:lnTo>
                    <a:pt x="251460" y="162560"/>
                  </a:lnTo>
                  <a:close/>
                </a:path>
              </a:pathLst>
            </a:custGeom>
            <a:solidFill>
              <a:srgbClr val="003764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139700" y="117475"/>
              <a:ext cx="406400" cy="4413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2105025" y="4248150"/>
            <a:ext cx="796706" cy="781952"/>
            <a:chOff x="0" y="0"/>
            <a:chExt cx="685800" cy="6731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85800" cy="668020"/>
            </a:xfrm>
            <a:custGeom>
              <a:avLst/>
              <a:gdLst/>
              <a:ahLst/>
              <a:cxnLst/>
              <a:rect r="r" b="b" t="t" l="l"/>
              <a:pathLst>
                <a:path h="668020" w="685800">
                  <a:moveTo>
                    <a:pt x="342900" y="0"/>
                  </a:moveTo>
                  <a:lnTo>
                    <a:pt x="434340" y="162560"/>
                  </a:lnTo>
                  <a:lnTo>
                    <a:pt x="618490" y="132080"/>
                  </a:lnTo>
                  <a:lnTo>
                    <a:pt x="547370" y="304800"/>
                  </a:lnTo>
                  <a:lnTo>
                    <a:pt x="685800" y="430530"/>
                  </a:lnTo>
                  <a:lnTo>
                    <a:pt x="506730" y="482600"/>
                  </a:lnTo>
                  <a:lnTo>
                    <a:pt x="495300" y="668020"/>
                  </a:lnTo>
                  <a:lnTo>
                    <a:pt x="342900" y="561340"/>
                  </a:lnTo>
                  <a:lnTo>
                    <a:pt x="190500" y="668020"/>
                  </a:lnTo>
                  <a:lnTo>
                    <a:pt x="179070" y="482600"/>
                  </a:lnTo>
                  <a:lnTo>
                    <a:pt x="0" y="430530"/>
                  </a:lnTo>
                  <a:lnTo>
                    <a:pt x="138430" y="304800"/>
                  </a:lnTo>
                  <a:lnTo>
                    <a:pt x="67310" y="132080"/>
                  </a:lnTo>
                  <a:lnTo>
                    <a:pt x="251460" y="162560"/>
                  </a:lnTo>
                  <a:close/>
                </a:path>
              </a:pathLst>
            </a:custGeom>
            <a:solidFill>
              <a:srgbClr val="003764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139700" y="117475"/>
              <a:ext cx="406400" cy="4413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3543300" y="7829550"/>
            <a:ext cx="5448300" cy="895350"/>
            <a:chOff x="0" y="0"/>
            <a:chExt cx="7264400" cy="1193800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0" y="731584"/>
              <a:ext cx="7264400" cy="4622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 strike="noStrike" u="none">
                  <a:solidFill>
                    <a:srgbClr val="444444"/>
                  </a:solidFill>
                  <a:latin typeface="DM Sans"/>
                  <a:ea typeface="DM Sans"/>
                  <a:cs typeface="DM Sans"/>
                  <a:sym typeface="DM Sans"/>
                </a:rPr>
                <a:t>info@jp-md.co.jp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-47625"/>
              <a:ext cx="7264400" cy="5712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39"/>
                </a:lnSpc>
                <a:spcBef>
                  <a:spcPct val="0"/>
                </a:spcBef>
              </a:pPr>
              <a:r>
                <a:rPr lang="en-US" sz="2599" strike="noStrike" u="none">
                  <a:solidFill>
                    <a:srgbClr val="C8161D"/>
                  </a:solidFill>
                  <a:latin typeface="DM Sans"/>
                  <a:ea typeface="DM Sans"/>
                  <a:cs typeface="DM Sans"/>
                  <a:sym typeface="DM Sans"/>
                </a:rPr>
                <a:t>メール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3543300" y="6038850"/>
            <a:ext cx="5448300" cy="895350"/>
            <a:chOff x="0" y="0"/>
            <a:chExt cx="7264400" cy="1193800"/>
          </a:xfrm>
        </p:grpSpPr>
        <p:sp>
          <p:nvSpPr>
            <p:cNvPr name="TextBox 17" id="17"/>
            <p:cNvSpPr txBox="true"/>
            <p:nvPr/>
          </p:nvSpPr>
          <p:spPr>
            <a:xfrm rot="0">
              <a:off x="0" y="731584"/>
              <a:ext cx="7264400" cy="4622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 strike="noStrike" u="none">
                  <a:solidFill>
                    <a:srgbClr val="444444"/>
                  </a:solidFill>
                  <a:latin typeface="DM Sans"/>
                  <a:ea typeface="DM Sans"/>
                  <a:cs typeface="DM Sans"/>
                  <a:sym typeface="DM Sans"/>
                </a:rPr>
                <a:t>JPメディアダイレクト株式会社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0" y="-47625"/>
              <a:ext cx="7264400" cy="5712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39"/>
                </a:lnSpc>
                <a:spcBef>
                  <a:spcPct val="0"/>
                </a:spcBef>
              </a:pPr>
              <a:r>
                <a:rPr lang="en-US" sz="2599" strike="noStrike" u="none">
                  <a:solidFill>
                    <a:srgbClr val="C8161D"/>
                  </a:solidFill>
                  <a:latin typeface="DM Sans"/>
                  <a:ea typeface="DM Sans"/>
                  <a:cs typeface="DM Sans"/>
                  <a:sym typeface="DM Sans"/>
                </a:rPr>
                <a:t>会社名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3543300" y="4248150"/>
            <a:ext cx="5448300" cy="895350"/>
            <a:chOff x="0" y="0"/>
            <a:chExt cx="7264400" cy="1193800"/>
          </a:xfrm>
        </p:grpSpPr>
        <p:sp>
          <p:nvSpPr>
            <p:cNvPr name="TextBox 20" id="20"/>
            <p:cNvSpPr txBox="true"/>
            <p:nvPr/>
          </p:nvSpPr>
          <p:spPr>
            <a:xfrm rot="0">
              <a:off x="0" y="731584"/>
              <a:ext cx="7264400" cy="4622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 strike="noStrike" u="none">
                  <a:solidFill>
                    <a:srgbClr val="444444"/>
                  </a:solidFill>
                  <a:latin typeface="DM Sans"/>
                  <a:ea typeface="DM Sans"/>
                  <a:cs typeface="DM Sans"/>
                  <a:sym typeface="DM Sans"/>
                </a:rPr>
                <a:t>https://www.jp-md.co.jp/dm_connect/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0" y="-47625"/>
              <a:ext cx="7264400" cy="5712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39"/>
                </a:lnSpc>
                <a:spcBef>
                  <a:spcPct val="0"/>
                </a:spcBef>
              </a:pPr>
              <a:r>
                <a:rPr lang="en-US" sz="2599" strike="noStrike" u="none">
                  <a:solidFill>
                    <a:srgbClr val="C8161D"/>
                  </a:solidFill>
                  <a:latin typeface="DM Sans"/>
                  <a:ea typeface="DM Sans"/>
                  <a:cs typeface="DM Sans"/>
                  <a:sym typeface="DM Sans"/>
                </a:rPr>
                <a:t>WEBサイト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666750" y="851535"/>
            <a:ext cx="9763125" cy="1282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600"/>
              </a:lnSpc>
              <a:spcBef>
                <a:spcPct val="0"/>
              </a:spcBef>
            </a:pPr>
            <a:r>
              <a:rPr lang="en-US" b="true" sz="9600" strike="noStrike" u="none">
                <a:solidFill>
                  <a:srgbClr val="C8161D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お問い合わせ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プレゼンテーション - DMConnect</dc:description>
  <dc:identifier>DAHIrA_Cbvg</dc:identifier>
  <dcterms:modified xsi:type="dcterms:W3CDTF">2011-08-01T06:04:30Z</dcterms:modified>
  <cp:revision>1</cp:revision>
  <dc:title>プレゼンテーション - DMConnect</dc:title>
</cp:coreProperties>
</file>