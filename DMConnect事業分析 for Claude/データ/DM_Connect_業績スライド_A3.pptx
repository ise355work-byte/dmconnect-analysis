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0" cy="10689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6893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0" y="0"/>
            <a:ext cx="9454896" cy="10689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03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DM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66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0891B2"/>
                </a:solidFill>
                <a:latin typeface="Calibri"/>
              </a:rPr>
              <a:t>業績ダッシュボード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FY2024 &amp; FY2025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074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JP Media Direct株式会社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3840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38404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FY24 売上合計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67004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7C3AED"/>
                </a:solidFill>
                <a:latin typeface="Calibri"/>
              </a:rPr>
              <a:t>¥58.5M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0" y="2286000"/>
            <a:ext cx="3840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0" y="2286000"/>
            <a:ext cx="3840480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71632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FY25 売上合計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1632" y="267004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891B2"/>
                </a:solidFill>
                <a:latin typeface="Calibri"/>
              </a:rPr>
              <a:t>¥92.3M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572000"/>
            <a:ext cx="3840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572000"/>
            <a:ext cx="38404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681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売上成長率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5604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59669"/>
                </a:solidFill>
                <a:latin typeface="Calibri"/>
              </a:rPr>
              <a:t>+57.8%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4572000"/>
            <a:ext cx="3840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07040" y="4572000"/>
            <a:ext cx="38404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71632" y="4681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FY25 損益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495604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C2626"/>
                </a:solidFill>
                <a:latin typeface="Calibri"/>
              </a:rPr>
              <a:t>▲¥16.9M</a:t>
            </a:r>
          </a:p>
        </p:txBody>
      </p:sp>
      <p:sp>
        <p:nvSpPr>
          <p:cNvPr id="25" name="Oval 24"/>
          <p:cNvSpPr/>
          <p:nvPr/>
        </p:nvSpPr>
        <p:spPr>
          <a:xfrm>
            <a:off x="13624560" y="91439"/>
            <a:ext cx="1645920" cy="164592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081760" y="8321040"/>
            <a:ext cx="1280160" cy="1280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0" y="9418320"/>
            <a:ext cx="914400" cy="9144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9966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Confidential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41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FY2024  年度概要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2023年4月 – 2024年3月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0"/>
            <a:ext cx="15124176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2359152" cy="594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売上合計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91B2"/>
                </a:solidFill>
                <a:latin typeface="Calibri"/>
              </a:rPr>
              <a:t>¥58.5M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58.5百万円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914400"/>
            <a:ext cx="2359152" cy="594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損益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Calibri"/>
              </a:rPr>
              <a:t>▲¥26.1M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赤字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914400"/>
            <a:ext cx="2359152" cy="594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印刷売上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91B2"/>
                </a:solidFill>
                <a:latin typeface="Calibri"/>
              </a:rPr>
              <a:t>¥10.1M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17.3% of Rev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914400"/>
            <a:ext cx="2359152" cy="594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利用料売上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Calibri"/>
              </a:rPr>
              <a:t>¥20.7M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35.4% of Rev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914400"/>
            <a:ext cx="2359152" cy="594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5956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郵券代売上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Calibri"/>
              </a:rPr>
              <a:t>¥27.7M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56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47.4% of Rev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61872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618720" y="914400"/>
            <a:ext cx="2359152" cy="594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2844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月次最高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2844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97706"/>
                </a:solidFill>
                <a:latin typeface="Calibri"/>
              </a:rPr>
              <a:t>¥8.38M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2844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2024年3月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304288"/>
            <a:ext cx="10789920" cy="813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50008"/>
            <a:ext cx="10698480" cy="80010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11201400" y="2304288"/>
            <a:ext cx="3657600" cy="640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350008"/>
            <a:ext cx="3566160" cy="5943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201400" y="87965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売上構成比 (年間)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41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8046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FY2025  年度概要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2024年4月 – 2025年3月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0"/>
            <a:ext cx="15124176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2359152" cy="594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売上合計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91B2"/>
                </a:solidFill>
                <a:latin typeface="Calibri"/>
              </a:rPr>
              <a:t>¥92.3M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92.3百万円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914400"/>
            <a:ext cx="2359152" cy="594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損益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Calibri"/>
              </a:rPr>
              <a:t>▲¥16.9M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赤字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914400"/>
            <a:ext cx="2359152" cy="594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印刷売上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91B2"/>
                </a:solidFill>
                <a:latin typeface="Calibri"/>
              </a:rPr>
              <a:t>¥13.8M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15.0% of Rev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914400"/>
            <a:ext cx="2359152" cy="594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利用料売上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Calibri"/>
              </a:rPr>
              <a:t>¥37.3M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40.4% of Rev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914400"/>
            <a:ext cx="2359152" cy="594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5956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郵券代売上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Calibri"/>
              </a:rPr>
              <a:t>¥41.2M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56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44.6% of Rev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61872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618720" y="914400"/>
            <a:ext cx="2359152" cy="594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2844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前年比 (売上)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2844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Calibri"/>
              </a:rPr>
              <a:t>+57.8%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2844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FY24比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304288"/>
            <a:ext cx="10789920" cy="813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50008"/>
            <a:ext cx="10698480" cy="80010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11201400" y="2304288"/>
            <a:ext cx="3657600" cy="640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350008"/>
            <a:ext cx="3566160" cy="5943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201400" y="87965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売上構成比 (年間)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41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FY24 vs FY25  年度比較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0"/>
            <a:ext cx="15124176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359152" cy="594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売上成長率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Calibri"/>
              </a:rPr>
              <a:t>+57.8%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FY24→FY25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914400"/>
            <a:ext cx="2359152" cy="594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損益改善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Calibri"/>
              </a:rPr>
              <a:t>+¥9.2M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損失縮小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914400"/>
            <a:ext cx="2359152" cy="594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印刷売上成長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91B2"/>
                </a:solidFill>
                <a:latin typeface="Calibri"/>
              </a:rPr>
              <a:t>+36.7%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FY24→FY25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914400"/>
            <a:ext cx="2359152" cy="594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利用料成長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Calibri"/>
              </a:rPr>
              <a:t>+80.4%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FY24→FY25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49840" y="914400"/>
            <a:ext cx="2359152" cy="5943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956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郵券代成長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956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284C7"/>
                </a:solidFill>
                <a:latin typeface="Calibri"/>
              </a:rPr>
              <a:t>+48.7%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FY24→FY25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618720" y="914400"/>
            <a:ext cx="235915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618720" y="914400"/>
            <a:ext cx="2359152" cy="594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728448" y="9966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増収額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28448" y="1225296"/>
            <a:ext cx="2139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97706"/>
                </a:solidFill>
                <a:latin typeface="Calibri"/>
              </a:rPr>
              <a:t>+¥33.8M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28448" y="1856232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前年差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304288"/>
            <a:ext cx="9601200" cy="6126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50008"/>
            <a:ext cx="9509760" cy="598932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274320" y="8503920"/>
            <a:ext cx="14584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549640"/>
            <a:ext cx="14493240" cy="190195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0058400" y="2304288"/>
            <a:ext cx="4754880" cy="6126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5560" y="239572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年度サマリー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2862072"/>
            <a:ext cx="461772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04120" y="2889504"/>
            <a:ext cx="46177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31552" y="2980944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指標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67744" y="2980944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FY24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03936" y="2980944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Calibri"/>
              </a:rPr>
              <a:t>FY25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31552" y="3456432"/>
            <a:ext cx="4526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04120" y="3474720"/>
            <a:ext cx="4617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31552" y="354787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売上合計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67744" y="354787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C3AED"/>
                </a:solidFill>
                <a:latin typeface="Calibri"/>
              </a:rPr>
              <a:t>¥58.5M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03936" y="354787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891B2"/>
                </a:solidFill>
                <a:latin typeface="Calibri"/>
              </a:rPr>
              <a:t>¥92.3M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31552" y="4023360"/>
            <a:ext cx="4526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04120" y="4041648"/>
            <a:ext cx="461772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31552" y="4114800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損益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67744" y="4114800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C3AED"/>
                </a:solidFill>
                <a:latin typeface="Calibri"/>
              </a:rPr>
              <a:t>▲¥26.1M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03936" y="4114800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891B2"/>
                </a:solidFill>
                <a:latin typeface="Calibri"/>
              </a:rPr>
              <a:t>▲¥16.9M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31552" y="4590288"/>
            <a:ext cx="4526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04120" y="4608576"/>
            <a:ext cx="4617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31552" y="4681728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印刷売上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67744" y="4681728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C3AED"/>
                </a:solidFill>
                <a:latin typeface="Calibri"/>
              </a:rPr>
              <a:t>¥10.1M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03936" y="4681728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891B2"/>
                </a:solidFill>
                <a:latin typeface="Calibri"/>
              </a:rPr>
              <a:t>¥13.8M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31552" y="5157216"/>
            <a:ext cx="4526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104120" y="5175504"/>
            <a:ext cx="461772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31552" y="5248656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利用料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67744" y="5248656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C3AED"/>
                </a:solidFill>
                <a:latin typeface="Calibri"/>
              </a:rPr>
              <a:t>¥20.7M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203936" y="5248656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891B2"/>
                </a:solidFill>
                <a:latin typeface="Calibri"/>
              </a:rPr>
              <a:t>¥37.3M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31552" y="5724144"/>
            <a:ext cx="4526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104120" y="5742432"/>
            <a:ext cx="4617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31552" y="5815584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郵券代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667744" y="5815584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C3AED"/>
                </a:solidFill>
                <a:latin typeface="Calibri"/>
              </a:rPr>
              <a:t>¥27.7M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203936" y="5815584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891B2"/>
                </a:solidFill>
                <a:latin typeface="Calibri"/>
              </a:rPr>
              <a:t>¥41.2M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31552" y="6291072"/>
            <a:ext cx="4526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04120" y="6309360"/>
            <a:ext cx="461772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31552" y="638251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前年比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667744" y="638251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C3AED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203936" y="638251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891B2"/>
                </a:solidFill>
                <a:latin typeface="Calibri"/>
              </a:rPr>
              <a:t>+57.8%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31552" y="6858000"/>
            <a:ext cx="4526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