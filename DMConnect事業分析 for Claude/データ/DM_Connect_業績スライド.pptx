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75620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00" cy="7562088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</a:rPr>
              <a:t>DM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06B6D4"/>
                </a:solidFill>
              </a:rPr>
              <a:t>業績ダッシュボード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FY2024 &amp; FY2025  |  JP Media Direct株式会社</a:t>
            </a:r>
          </a:p>
        </p:txBody>
      </p:sp>
      <p:sp>
        <p:nvSpPr>
          <p:cNvPr id="7" name="Oval 6"/>
          <p:cNvSpPr/>
          <p:nvPr/>
        </p:nvSpPr>
        <p:spPr>
          <a:xfrm>
            <a:off x="7589520" y="4572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0" y="2743200"/>
            <a:ext cx="1828800" cy="18288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0" y="41148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7040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© JP Media Direct — Confidential  | 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685800"/>
          </a:xfrm>
          <a:prstGeom prst="rect">
            <a:avLst/>
          </a:prstGeom>
          <a:solidFill>
            <a:srgbClr val="24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6858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FY2024  年度概要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64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2023年4月 – 2024年3月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424927"/>
            <a:ext cx="10689336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777240"/>
            <a:ext cx="169164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売上合計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6B6D4"/>
                </a:solidFill>
              </a:rPr>
              <a:t>¥58.5M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58.5百万円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0" y="777240"/>
            <a:ext cx="169164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損益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F4444"/>
                </a:solidFill>
              </a:rPr>
              <a:t>▲¥26.1M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赤字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777240"/>
            <a:ext cx="169164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印刷売上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6B6D4"/>
                </a:solidFill>
              </a:rPr>
              <a:t>¥10.1M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17.3% of Rev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6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23560" y="777240"/>
            <a:ext cx="16916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利用料売上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8B5CF6"/>
                </a:solidFill>
              </a:rPr>
              <a:t>¥20.7M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35.4% of Rev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0" y="777240"/>
            <a:ext cx="169164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郵券代売上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0B981"/>
                </a:solidFill>
              </a:rPr>
              <a:t>¥27.7M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47.4% of Rev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2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89720" y="777240"/>
            <a:ext cx="169164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月次最高売上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9E0B"/>
                </a:solidFill>
              </a:rPr>
              <a:t>¥8.38M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24年3月 (累計)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01952"/>
            <a:ext cx="7315200" cy="530352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901952"/>
            <a:ext cx="2697480" cy="4114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772400" y="601675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売上構成比 (年間)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685800"/>
          </a:xfrm>
          <a:prstGeom prst="rect">
            <a:avLst/>
          </a:prstGeom>
          <a:solidFill>
            <a:srgbClr val="24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6858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FY2025  年度概要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64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2024年4月 – 2025年3月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424927"/>
            <a:ext cx="10689336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777240"/>
            <a:ext cx="169164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売上合計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6B6D4"/>
                </a:solidFill>
              </a:rPr>
              <a:t>¥92.3M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92.3百万円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0" y="777240"/>
            <a:ext cx="169164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損益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F4444"/>
                </a:solidFill>
              </a:rPr>
              <a:t>▲¥16.9M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赤字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777240"/>
            <a:ext cx="169164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印刷売上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6B6D4"/>
                </a:solidFill>
              </a:rPr>
              <a:t>¥13.8M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15.0% of Rev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6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23560" y="777240"/>
            <a:ext cx="16916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利用料売上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8B5CF6"/>
                </a:solidFill>
              </a:rPr>
              <a:t>¥37.3M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40.4% of Rev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0" y="777240"/>
            <a:ext cx="169164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郵券代売上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0B981"/>
                </a:solidFill>
              </a:rPr>
              <a:t>¥41.2M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44.6% of Rev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2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89720" y="777240"/>
            <a:ext cx="169164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前年比 (売上)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0B981"/>
                </a:solidFill>
              </a:rPr>
              <a:t>+57.8%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FY24比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01952"/>
            <a:ext cx="7315200" cy="530352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901952"/>
            <a:ext cx="2697480" cy="4114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772400" y="601675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売上構成比 (年間)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685800"/>
          </a:xfrm>
          <a:prstGeom prst="rect">
            <a:avLst/>
          </a:prstGeom>
          <a:solidFill>
            <a:srgbClr val="24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6858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FY24 vs FY25  年度比較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424927"/>
            <a:ext cx="10689336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169164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売上成長率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0B981"/>
                </a:solidFill>
              </a:rPr>
              <a:t>+57.8%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FY24→FY25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777240"/>
            <a:ext cx="169164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損益改善額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0B981"/>
                </a:solidFill>
              </a:rPr>
              <a:t>+¥9.2M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損失縮小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0" y="777240"/>
            <a:ext cx="169164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印刷売上成長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6B6D4"/>
                </a:solidFill>
              </a:rPr>
              <a:t>+36.7%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FY24→FY25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777240"/>
            <a:ext cx="16916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利用料成長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8B5CF6"/>
                </a:solidFill>
              </a:rPr>
              <a:t>+80.4%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FY24→FY25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777240"/>
            <a:ext cx="169164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郵券代成長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8BDF8"/>
                </a:solidFill>
              </a:rPr>
              <a:t>+48.7%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FY24→FY25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777240"/>
            <a:ext cx="169164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777240"/>
            <a:ext cx="169164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841247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売上差額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10241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9E0B"/>
                </a:solidFill>
              </a:rPr>
              <a:t>+¥33.8M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152704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増収額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20240"/>
            <a:ext cx="6858000" cy="402336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577840"/>
            <a:ext cx="10058400" cy="18288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7360920" y="1920240"/>
            <a:ext cx="3063240" cy="4023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79" y="19933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年度サマリー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60920" y="2331720"/>
            <a:ext cx="306324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88352" y="237744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4A3B8"/>
                </a:solidFill>
              </a:rPr>
              <a:t>指標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237744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4A3B8"/>
                </a:solidFill>
              </a:rPr>
              <a:t>FY24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6" y="237744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4A3B8"/>
                </a:solidFill>
              </a:rPr>
              <a:t>FY25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88352" y="288036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売上合計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5904" y="288036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5CF6"/>
                </a:solidFill>
              </a:rPr>
              <a:t>¥58.5M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63456" y="288036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B6D4"/>
                </a:solidFill>
              </a:rPr>
              <a:t>¥92.3M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88352" y="2862072"/>
            <a:ext cx="2971800" cy="9144"/>
          </a:xfrm>
          <a:prstGeom prst="rect">
            <a:avLst/>
          </a:prstGeom>
          <a:solidFill>
            <a:srgbClr val="24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88352" y="338328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損益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75904" y="338328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5CF6"/>
                </a:solidFill>
              </a:rPr>
              <a:t>▲¥26.1M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3456" y="338328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B6D4"/>
                </a:solidFill>
              </a:rPr>
              <a:t>▲¥16.9M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88352" y="3364992"/>
            <a:ext cx="2971800" cy="9144"/>
          </a:xfrm>
          <a:prstGeom prst="rect">
            <a:avLst/>
          </a:prstGeom>
          <a:solidFill>
            <a:srgbClr val="24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88352" y="388620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印刷売上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75904" y="388620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5CF6"/>
                </a:solidFill>
              </a:rPr>
              <a:t>¥10.1M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3456" y="388620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B6D4"/>
                </a:solidFill>
              </a:rPr>
              <a:t>¥13.8M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88352" y="3867912"/>
            <a:ext cx="2971800" cy="9144"/>
          </a:xfrm>
          <a:prstGeom prst="rect">
            <a:avLst/>
          </a:prstGeom>
          <a:solidFill>
            <a:srgbClr val="24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88352" y="438912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利用料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75904" y="438912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5CF6"/>
                </a:solidFill>
              </a:rPr>
              <a:t>¥20.7M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63456" y="438912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B6D4"/>
                </a:solidFill>
              </a:rPr>
              <a:t>¥37.3M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88352" y="4370832"/>
            <a:ext cx="2971800" cy="9144"/>
          </a:xfrm>
          <a:prstGeom prst="rect">
            <a:avLst/>
          </a:prstGeom>
          <a:solidFill>
            <a:srgbClr val="24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88352" y="489204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郵券代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75904" y="489204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5CF6"/>
                </a:solidFill>
              </a:rPr>
              <a:t>¥27.7M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63456" y="489204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B6D4"/>
                </a:solidFill>
              </a:rPr>
              <a:t>¥41.2M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88352" y="4873752"/>
            <a:ext cx="2971800" cy="9144"/>
          </a:xfrm>
          <a:prstGeom prst="rect">
            <a:avLst/>
          </a:prstGeom>
          <a:solidFill>
            <a:srgbClr val="24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88352" y="539496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</a:rPr>
              <a:t>前年比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75904" y="539496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5CF6"/>
                </a:solidFill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63456" y="5394960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B6D4"/>
                </a:solidFill>
              </a:rPr>
              <a:t>+57.8%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88352" y="5376672"/>
            <a:ext cx="2971800" cy="9144"/>
          </a:xfrm>
          <a:prstGeom prst="rect">
            <a:avLst/>
          </a:prstGeom>
          <a:solidFill>
            <a:srgbClr val="24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